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4" r:id="rId6"/>
    <p:sldId id="265" r:id="rId7"/>
    <p:sldId id="260" r:id="rId8"/>
    <p:sldId id="261" r:id="rId9"/>
    <p:sldId id="271" r:id="rId10"/>
    <p:sldId id="266" r:id="rId11"/>
    <p:sldId id="267" r:id="rId12"/>
    <p:sldId id="272" r:id="rId13"/>
    <p:sldId id="278" r:id="rId14"/>
    <p:sldId id="279" r:id="rId15"/>
    <p:sldId id="262" r:id="rId16"/>
    <p:sldId id="274" r:id="rId17"/>
    <p:sldId id="263" r:id="rId18"/>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91" d="100"/>
          <a:sy n="91" d="100"/>
        </p:scale>
        <p:origin x="1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B2E2F5-AD5E-45EC-A3F9-357631EAC6EF}" type="datetimeFigureOut">
              <a:rPr lang="en-IN" smtClean="0"/>
              <a:t>28-04-2026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2F7B61-9625-4363-92A7-2A11FA25D8E2}" type="slidenum">
              <a:rPr lang="en-IN" smtClean="0"/>
              <a:t>‹#›</a:t>
            </a:fld>
            <a:endParaRPr lang="en-IN"/>
          </a:p>
        </p:txBody>
      </p:sp>
    </p:spTree>
    <p:extLst>
      <p:ext uri="{BB962C8B-B14F-4D97-AF65-F5344CB8AC3E}">
        <p14:creationId xmlns:p14="http://schemas.microsoft.com/office/powerpoint/2010/main" val="4196548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2F7B61-9625-4363-92A7-2A11FA25D8E2}" type="slidenum">
              <a:rPr lang="en-IN" smtClean="0"/>
              <a:t>4</a:t>
            </a:fld>
            <a:endParaRPr lang="en-IN"/>
          </a:p>
        </p:txBody>
      </p:sp>
    </p:spTree>
    <p:extLst>
      <p:ext uri="{BB962C8B-B14F-4D97-AF65-F5344CB8AC3E}">
        <p14:creationId xmlns:p14="http://schemas.microsoft.com/office/powerpoint/2010/main" val="1562716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2F7B61-9625-4363-92A7-2A11FA25D8E2}" type="slidenum">
              <a:rPr lang="en-IN" smtClean="0"/>
              <a:t>15</a:t>
            </a:fld>
            <a:endParaRPr lang="en-IN"/>
          </a:p>
        </p:txBody>
      </p:sp>
    </p:spTree>
    <p:extLst>
      <p:ext uri="{BB962C8B-B14F-4D97-AF65-F5344CB8AC3E}">
        <p14:creationId xmlns:p14="http://schemas.microsoft.com/office/powerpoint/2010/main" val="46186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A337A-3629-ECDB-9F13-18C39C9DB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811133-3F08-3964-F550-B110D7BD9F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C67773C-4EF0-A53F-2FDA-EFD99DF72919}"/>
              </a:ext>
            </a:extLst>
          </p:cNvPr>
          <p:cNvSpPr>
            <a:spLocks noGrp="1"/>
          </p:cNvSpPr>
          <p:nvPr>
            <p:ph type="dt" sz="half" idx="10"/>
          </p:nvPr>
        </p:nvSpPr>
        <p:spPr/>
        <p:txBody>
          <a:bodyPr/>
          <a:lstStyle/>
          <a:p>
            <a:fld id="{8B040E19-3B20-47BF-BACC-BBFF4FFDC190}" type="datetimeFigureOut">
              <a:rPr lang="en-IN" smtClean="0"/>
              <a:t>28-04-2026</a:t>
            </a:fld>
            <a:endParaRPr lang="en-IN"/>
          </a:p>
        </p:txBody>
      </p:sp>
      <p:sp>
        <p:nvSpPr>
          <p:cNvPr id="5" name="Footer Placeholder 4">
            <a:extLst>
              <a:ext uri="{FF2B5EF4-FFF2-40B4-BE49-F238E27FC236}">
                <a16:creationId xmlns:a16="http://schemas.microsoft.com/office/drawing/2014/main" id="{DEAD217B-1B79-957B-22BB-E3D656342C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91C679-63BD-D9E2-2A2C-BF8E0CA30C86}"/>
              </a:ext>
            </a:extLst>
          </p:cNvPr>
          <p:cNvSpPr>
            <a:spLocks noGrp="1"/>
          </p:cNvSpPr>
          <p:nvPr>
            <p:ph type="sldNum" sz="quarter" idx="12"/>
          </p:nvPr>
        </p:nvSpPr>
        <p:spPr/>
        <p:txBody>
          <a:bodyPr/>
          <a:lstStyle/>
          <a:p>
            <a:fld id="{7FAB2F0A-2C30-49CD-95E1-508C33657825}" type="slidenum">
              <a:rPr lang="en-IN" smtClean="0"/>
              <a:t>‹#›</a:t>
            </a:fld>
            <a:endParaRPr lang="en-IN"/>
          </a:p>
        </p:txBody>
      </p:sp>
    </p:spTree>
    <p:extLst>
      <p:ext uri="{BB962C8B-B14F-4D97-AF65-F5344CB8AC3E}">
        <p14:creationId xmlns:p14="http://schemas.microsoft.com/office/powerpoint/2010/main" val="1250749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695CE-F511-A996-512D-A83BB958A4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508934-609E-9C50-8E2A-7900565964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184D1B-FCCC-3FE8-A374-352E7F162DA7}"/>
              </a:ext>
            </a:extLst>
          </p:cNvPr>
          <p:cNvSpPr>
            <a:spLocks noGrp="1"/>
          </p:cNvSpPr>
          <p:nvPr>
            <p:ph type="dt" sz="half" idx="10"/>
          </p:nvPr>
        </p:nvSpPr>
        <p:spPr/>
        <p:txBody>
          <a:bodyPr/>
          <a:lstStyle/>
          <a:p>
            <a:fld id="{8B040E19-3B20-47BF-BACC-BBFF4FFDC190}" type="datetimeFigureOut">
              <a:rPr lang="en-IN" smtClean="0"/>
              <a:t>28-04-2026</a:t>
            </a:fld>
            <a:endParaRPr lang="en-IN"/>
          </a:p>
        </p:txBody>
      </p:sp>
      <p:sp>
        <p:nvSpPr>
          <p:cNvPr id="5" name="Footer Placeholder 4">
            <a:extLst>
              <a:ext uri="{FF2B5EF4-FFF2-40B4-BE49-F238E27FC236}">
                <a16:creationId xmlns:a16="http://schemas.microsoft.com/office/drawing/2014/main" id="{B44C2F4A-E7D2-6B32-7D86-B95A95A269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6E54DC-E7EE-F730-4B0B-C6949768AFB2}"/>
              </a:ext>
            </a:extLst>
          </p:cNvPr>
          <p:cNvSpPr>
            <a:spLocks noGrp="1"/>
          </p:cNvSpPr>
          <p:nvPr>
            <p:ph type="sldNum" sz="quarter" idx="12"/>
          </p:nvPr>
        </p:nvSpPr>
        <p:spPr/>
        <p:txBody>
          <a:bodyPr/>
          <a:lstStyle/>
          <a:p>
            <a:fld id="{7FAB2F0A-2C30-49CD-95E1-508C33657825}" type="slidenum">
              <a:rPr lang="en-IN" smtClean="0"/>
              <a:t>‹#›</a:t>
            </a:fld>
            <a:endParaRPr lang="en-IN"/>
          </a:p>
        </p:txBody>
      </p:sp>
    </p:spTree>
    <p:extLst>
      <p:ext uri="{BB962C8B-B14F-4D97-AF65-F5344CB8AC3E}">
        <p14:creationId xmlns:p14="http://schemas.microsoft.com/office/powerpoint/2010/main" val="3552940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C7AE8-1174-B6E8-8DD5-3870F894FD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67675E7-AD53-A50B-A08F-CF186F7F87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302CA2-C306-ED3D-55C1-624099F395CD}"/>
              </a:ext>
            </a:extLst>
          </p:cNvPr>
          <p:cNvSpPr>
            <a:spLocks noGrp="1"/>
          </p:cNvSpPr>
          <p:nvPr>
            <p:ph type="dt" sz="half" idx="10"/>
          </p:nvPr>
        </p:nvSpPr>
        <p:spPr/>
        <p:txBody>
          <a:bodyPr/>
          <a:lstStyle/>
          <a:p>
            <a:fld id="{8B040E19-3B20-47BF-BACC-BBFF4FFDC190}" type="datetimeFigureOut">
              <a:rPr lang="en-IN" smtClean="0"/>
              <a:t>28-04-2026</a:t>
            </a:fld>
            <a:endParaRPr lang="en-IN"/>
          </a:p>
        </p:txBody>
      </p:sp>
      <p:sp>
        <p:nvSpPr>
          <p:cNvPr id="5" name="Footer Placeholder 4">
            <a:extLst>
              <a:ext uri="{FF2B5EF4-FFF2-40B4-BE49-F238E27FC236}">
                <a16:creationId xmlns:a16="http://schemas.microsoft.com/office/drawing/2014/main" id="{73D0C4EC-A400-DCB2-7DA1-08FBABCD7A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6DAC31-329F-E1D8-41D2-CA4E02C56A26}"/>
              </a:ext>
            </a:extLst>
          </p:cNvPr>
          <p:cNvSpPr>
            <a:spLocks noGrp="1"/>
          </p:cNvSpPr>
          <p:nvPr>
            <p:ph type="sldNum" sz="quarter" idx="12"/>
          </p:nvPr>
        </p:nvSpPr>
        <p:spPr/>
        <p:txBody>
          <a:bodyPr/>
          <a:lstStyle/>
          <a:p>
            <a:fld id="{7FAB2F0A-2C30-49CD-95E1-508C33657825}" type="slidenum">
              <a:rPr lang="en-IN" smtClean="0"/>
              <a:t>‹#›</a:t>
            </a:fld>
            <a:endParaRPr lang="en-IN"/>
          </a:p>
        </p:txBody>
      </p:sp>
    </p:spTree>
    <p:extLst>
      <p:ext uri="{BB962C8B-B14F-4D97-AF65-F5344CB8AC3E}">
        <p14:creationId xmlns:p14="http://schemas.microsoft.com/office/powerpoint/2010/main" val="3134743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F4CD2-DE06-E4F0-39A8-3C96137A3A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8CE9B4-12FC-964E-A0A3-91B17797AE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790212-7DE6-02A7-79AE-20EEFBAE54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81F84C-AFE7-37CE-9C61-3F377F6E8418}"/>
              </a:ext>
            </a:extLst>
          </p:cNvPr>
          <p:cNvSpPr>
            <a:spLocks noGrp="1"/>
          </p:cNvSpPr>
          <p:nvPr>
            <p:ph type="dt" sz="half" idx="10"/>
          </p:nvPr>
        </p:nvSpPr>
        <p:spPr/>
        <p:txBody>
          <a:bodyPr/>
          <a:lstStyle/>
          <a:p>
            <a:fld id="{8B040E19-3B20-47BF-BACC-BBFF4FFDC190}" type="datetimeFigureOut">
              <a:rPr lang="en-IN" smtClean="0"/>
              <a:t>28-04-2026</a:t>
            </a:fld>
            <a:endParaRPr lang="en-IN"/>
          </a:p>
        </p:txBody>
      </p:sp>
      <p:sp>
        <p:nvSpPr>
          <p:cNvPr id="6" name="Footer Placeholder 5">
            <a:extLst>
              <a:ext uri="{FF2B5EF4-FFF2-40B4-BE49-F238E27FC236}">
                <a16:creationId xmlns:a16="http://schemas.microsoft.com/office/drawing/2014/main" id="{9F40F91B-3B7C-EF2A-7618-BE7120AF5C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1DB42C-2FC8-248B-5CFC-A32A31D620AE}"/>
              </a:ext>
            </a:extLst>
          </p:cNvPr>
          <p:cNvSpPr>
            <a:spLocks noGrp="1"/>
          </p:cNvSpPr>
          <p:nvPr>
            <p:ph type="sldNum" sz="quarter" idx="12"/>
          </p:nvPr>
        </p:nvSpPr>
        <p:spPr/>
        <p:txBody>
          <a:bodyPr/>
          <a:lstStyle/>
          <a:p>
            <a:fld id="{7FAB2F0A-2C30-49CD-95E1-508C33657825}" type="slidenum">
              <a:rPr lang="en-IN" smtClean="0"/>
              <a:t>‹#›</a:t>
            </a:fld>
            <a:endParaRPr lang="en-IN"/>
          </a:p>
        </p:txBody>
      </p:sp>
    </p:spTree>
    <p:extLst>
      <p:ext uri="{BB962C8B-B14F-4D97-AF65-F5344CB8AC3E}">
        <p14:creationId xmlns:p14="http://schemas.microsoft.com/office/powerpoint/2010/main" val="4229308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D93A6-8B73-3E06-1C13-3E374AC9EF3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26A8BB-09A5-04E4-5418-C65A216510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4CEE79-1EBB-4EB2-1694-81CC7B008C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1AD50F6-B13B-E09F-53C5-0CDA58DB34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606D3A-46C2-6A02-B954-4C21548F89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D0C9F19-1787-9C4D-2B58-1F8CCA7701C8}"/>
              </a:ext>
            </a:extLst>
          </p:cNvPr>
          <p:cNvSpPr>
            <a:spLocks noGrp="1"/>
          </p:cNvSpPr>
          <p:nvPr>
            <p:ph type="dt" sz="half" idx="10"/>
          </p:nvPr>
        </p:nvSpPr>
        <p:spPr/>
        <p:txBody>
          <a:bodyPr/>
          <a:lstStyle/>
          <a:p>
            <a:fld id="{8B040E19-3B20-47BF-BACC-BBFF4FFDC190}" type="datetimeFigureOut">
              <a:rPr lang="en-IN" smtClean="0"/>
              <a:t>28-04-2026</a:t>
            </a:fld>
            <a:endParaRPr lang="en-IN"/>
          </a:p>
        </p:txBody>
      </p:sp>
      <p:sp>
        <p:nvSpPr>
          <p:cNvPr id="8" name="Footer Placeholder 7">
            <a:extLst>
              <a:ext uri="{FF2B5EF4-FFF2-40B4-BE49-F238E27FC236}">
                <a16:creationId xmlns:a16="http://schemas.microsoft.com/office/drawing/2014/main" id="{4E950A94-D0B9-8263-FDF8-8DAD746D6F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33E6A5-1E04-9BE5-C1EA-FCA65720D8A5}"/>
              </a:ext>
            </a:extLst>
          </p:cNvPr>
          <p:cNvSpPr>
            <a:spLocks noGrp="1"/>
          </p:cNvSpPr>
          <p:nvPr>
            <p:ph type="sldNum" sz="quarter" idx="12"/>
          </p:nvPr>
        </p:nvSpPr>
        <p:spPr/>
        <p:txBody>
          <a:bodyPr/>
          <a:lstStyle/>
          <a:p>
            <a:fld id="{7FAB2F0A-2C30-49CD-95E1-508C33657825}" type="slidenum">
              <a:rPr lang="en-IN" smtClean="0"/>
              <a:t>‹#›</a:t>
            </a:fld>
            <a:endParaRPr lang="en-IN"/>
          </a:p>
        </p:txBody>
      </p:sp>
    </p:spTree>
    <p:extLst>
      <p:ext uri="{BB962C8B-B14F-4D97-AF65-F5344CB8AC3E}">
        <p14:creationId xmlns:p14="http://schemas.microsoft.com/office/powerpoint/2010/main" val="4140478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825D8-D331-D6D7-1132-58D3FBB496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2BB4938-2AC7-DF55-A21C-25FF903AD0E5}"/>
              </a:ext>
            </a:extLst>
          </p:cNvPr>
          <p:cNvSpPr>
            <a:spLocks noGrp="1"/>
          </p:cNvSpPr>
          <p:nvPr>
            <p:ph type="dt" sz="half" idx="10"/>
          </p:nvPr>
        </p:nvSpPr>
        <p:spPr/>
        <p:txBody>
          <a:bodyPr/>
          <a:lstStyle/>
          <a:p>
            <a:fld id="{8B040E19-3B20-47BF-BACC-BBFF4FFDC190}" type="datetimeFigureOut">
              <a:rPr lang="en-IN" smtClean="0"/>
              <a:t>28-04-2026</a:t>
            </a:fld>
            <a:endParaRPr lang="en-IN"/>
          </a:p>
        </p:txBody>
      </p:sp>
      <p:sp>
        <p:nvSpPr>
          <p:cNvPr id="4" name="Footer Placeholder 3">
            <a:extLst>
              <a:ext uri="{FF2B5EF4-FFF2-40B4-BE49-F238E27FC236}">
                <a16:creationId xmlns:a16="http://schemas.microsoft.com/office/drawing/2014/main" id="{2A9281FC-C82C-DEC1-D00A-4209C3043D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83F228-6D0B-6447-D371-C0CF000BF0B5}"/>
              </a:ext>
            </a:extLst>
          </p:cNvPr>
          <p:cNvSpPr>
            <a:spLocks noGrp="1"/>
          </p:cNvSpPr>
          <p:nvPr>
            <p:ph type="sldNum" sz="quarter" idx="12"/>
          </p:nvPr>
        </p:nvSpPr>
        <p:spPr/>
        <p:txBody>
          <a:bodyPr/>
          <a:lstStyle/>
          <a:p>
            <a:fld id="{7FAB2F0A-2C30-49CD-95E1-508C33657825}" type="slidenum">
              <a:rPr lang="en-IN" smtClean="0"/>
              <a:t>‹#›</a:t>
            </a:fld>
            <a:endParaRPr lang="en-IN"/>
          </a:p>
        </p:txBody>
      </p:sp>
    </p:spTree>
    <p:extLst>
      <p:ext uri="{BB962C8B-B14F-4D97-AF65-F5344CB8AC3E}">
        <p14:creationId xmlns:p14="http://schemas.microsoft.com/office/powerpoint/2010/main" val="3852489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5AF578-61A4-D8E6-0EE5-FEED412ED985}"/>
              </a:ext>
            </a:extLst>
          </p:cNvPr>
          <p:cNvSpPr>
            <a:spLocks noGrp="1"/>
          </p:cNvSpPr>
          <p:nvPr>
            <p:ph type="dt" sz="half" idx="10"/>
          </p:nvPr>
        </p:nvSpPr>
        <p:spPr/>
        <p:txBody>
          <a:bodyPr/>
          <a:lstStyle/>
          <a:p>
            <a:fld id="{8B040E19-3B20-47BF-BACC-BBFF4FFDC190}" type="datetimeFigureOut">
              <a:rPr lang="en-IN" smtClean="0"/>
              <a:t>28-04-2026</a:t>
            </a:fld>
            <a:endParaRPr lang="en-IN"/>
          </a:p>
        </p:txBody>
      </p:sp>
      <p:sp>
        <p:nvSpPr>
          <p:cNvPr id="3" name="Footer Placeholder 2">
            <a:extLst>
              <a:ext uri="{FF2B5EF4-FFF2-40B4-BE49-F238E27FC236}">
                <a16:creationId xmlns:a16="http://schemas.microsoft.com/office/drawing/2014/main" id="{FBBC2652-C616-8756-935F-8E26C46D904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5C3C0F-AAE7-C719-29D9-22E0D7DBDC22}"/>
              </a:ext>
            </a:extLst>
          </p:cNvPr>
          <p:cNvSpPr>
            <a:spLocks noGrp="1"/>
          </p:cNvSpPr>
          <p:nvPr>
            <p:ph type="sldNum" sz="quarter" idx="12"/>
          </p:nvPr>
        </p:nvSpPr>
        <p:spPr/>
        <p:txBody>
          <a:bodyPr/>
          <a:lstStyle/>
          <a:p>
            <a:fld id="{7FAB2F0A-2C30-49CD-95E1-508C33657825}" type="slidenum">
              <a:rPr lang="en-IN" smtClean="0"/>
              <a:t>‹#›</a:t>
            </a:fld>
            <a:endParaRPr lang="en-IN"/>
          </a:p>
        </p:txBody>
      </p:sp>
    </p:spTree>
    <p:extLst>
      <p:ext uri="{BB962C8B-B14F-4D97-AF65-F5344CB8AC3E}">
        <p14:creationId xmlns:p14="http://schemas.microsoft.com/office/powerpoint/2010/main" val="3731262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5818-BA9D-74BD-36B2-56CF9E53A9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ECDFA8-5119-B7E0-CA34-C5267F48EB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25617BD-C899-CD98-C3EF-80B3703D7F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5E1E2F-0D44-8781-3E52-1A9097EE69B3}"/>
              </a:ext>
            </a:extLst>
          </p:cNvPr>
          <p:cNvSpPr>
            <a:spLocks noGrp="1"/>
          </p:cNvSpPr>
          <p:nvPr>
            <p:ph type="dt" sz="half" idx="10"/>
          </p:nvPr>
        </p:nvSpPr>
        <p:spPr/>
        <p:txBody>
          <a:bodyPr/>
          <a:lstStyle/>
          <a:p>
            <a:fld id="{8B040E19-3B20-47BF-BACC-BBFF4FFDC190}" type="datetimeFigureOut">
              <a:rPr lang="en-IN" smtClean="0"/>
              <a:t>28-04-2026</a:t>
            </a:fld>
            <a:endParaRPr lang="en-IN"/>
          </a:p>
        </p:txBody>
      </p:sp>
      <p:sp>
        <p:nvSpPr>
          <p:cNvPr id="6" name="Footer Placeholder 5">
            <a:extLst>
              <a:ext uri="{FF2B5EF4-FFF2-40B4-BE49-F238E27FC236}">
                <a16:creationId xmlns:a16="http://schemas.microsoft.com/office/drawing/2014/main" id="{04A5EB34-A72F-4F48-CE30-422ED40E71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13EDE4-AC03-4F15-BDD0-D27F0F0C0F11}"/>
              </a:ext>
            </a:extLst>
          </p:cNvPr>
          <p:cNvSpPr>
            <a:spLocks noGrp="1"/>
          </p:cNvSpPr>
          <p:nvPr>
            <p:ph type="sldNum" sz="quarter" idx="12"/>
          </p:nvPr>
        </p:nvSpPr>
        <p:spPr/>
        <p:txBody>
          <a:bodyPr/>
          <a:lstStyle/>
          <a:p>
            <a:fld id="{7FAB2F0A-2C30-49CD-95E1-508C33657825}" type="slidenum">
              <a:rPr lang="en-IN" smtClean="0"/>
              <a:t>‹#›</a:t>
            </a:fld>
            <a:endParaRPr lang="en-IN"/>
          </a:p>
        </p:txBody>
      </p:sp>
    </p:spTree>
    <p:extLst>
      <p:ext uri="{BB962C8B-B14F-4D97-AF65-F5344CB8AC3E}">
        <p14:creationId xmlns:p14="http://schemas.microsoft.com/office/powerpoint/2010/main" val="121110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27931-7B11-A2CA-7DB5-28E29D7B14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5AC1E58-883B-5888-8F73-FF821B7DC8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2A38D9-FD83-7720-E794-921D398F82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624F97-F380-610D-2D68-E245C67A948B}"/>
              </a:ext>
            </a:extLst>
          </p:cNvPr>
          <p:cNvSpPr>
            <a:spLocks noGrp="1"/>
          </p:cNvSpPr>
          <p:nvPr>
            <p:ph type="dt" sz="half" idx="10"/>
          </p:nvPr>
        </p:nvSpPr>
        <p:spPr/>
        <p:txBody>
          <a:bodyPr/>
          <a:lstStyle/>
          <a:p>
            <a:fld id="{8B040E19-3B20-47BF-BACC-BBFF4FFDC190}" type="datetimeFigureOut">
              <a:rPr lang="en-IN" smtClean="0"/>
              <a:t>28-04-2026</a:t>
            </a:fld>
            <a:endParaRPr lang="en-IN"/>
          </a:p>
        </p:txBody>
      </p:sp>
      <p:sp>
        <p:nvSpPr>
          <p:cNvPr id="6" name="Footer Placeholder 5">
            <a:extLst>
              <a:ext uri="{FF2B5EF4-FFF2-40B4-BE49-F238E27FC236}">
                <a16:creationId xmlns:a16="http://schemas.microsoft.com/office/drawing/2014/main" id="{435E35AE-630C-2975-2626-947D375F41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B3A9C7-1DF1-3F35-0AF4-7757F6362576}"/>
              </a:ext>
            </a:extLst>
          </p:cNvPr>
          <p:cNvSpPr>
            <a:spLocks noGrp="1"/>
          </p:cNvSpPr>
          <p:nvPr>
            <p:ph type="sldNum" sz="quarter" idx="12"/>
          </p:nvPr>
        </p:nvSpPr>
        <p:spPr/>
        <p:txBody>
          <a:bodyPr/>
          <a:lstStyle/>
          <a:p>
            <a:fld id="{7FAB2F0A-2C30-49CD-95E1-508C33657825}" type="slidenum">
              <a:rPr lang="en-IN" smtClean="0"/>
              <a:t>‹#›</a:t>
            </a:fld>
            <a:endParaRPr lang="en-IN"/>
          </a:p>
        </p:txBody>
      </p:sp>
    </p:spTree>
    <p:extLst>
      <p:ext uri="{BB962C8B-B14F-4D97-AF65-F5344CB8AC3E}">
        <p14:creationId xmlns:p14="http://schemas.microsoft.com/office/powerpoint/2010/main" val="431099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9CF2-D124-3AF0-B9DD-88253658DC4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03D1B3-2D5A-3109-363E-2A5A52781E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8F41DF-6354-6754-7BC0-C3F8ED9DD968}"/>
              </a:ext>
            </a:extLst>
          </p:cNvPr>
          <p:cNvSpPr>
            <a:spLocks noGrp="1"/>
          </p:cNvSpPr>
          <p:nvPr>
            <p:ph type="dt" sz="half" idx="10"/>
          </p:nvPr>
        </p:nvSpPr>
        <p:spPr/>
        <p:txBody>
          <a:bodyPr/>
          <a:lstStyle/>
          <a:p>
            <a:fld id="{8B040E19-3B20-47BF-BACC-BBFF4FFDC190}" type="datetimeFigureOut">
              <a:rPr lang="en-IN" smtClean="0"/>
              <a:t>28-04-2026</a:t>
            </a:fld>
            <a:endParaRPr lang="en-IN"/>
          </a:p>
        </p:txBody>
      </p:sp>
      <p:sp>
        <p:nvSpPr>
          <p:cNvPr id="5" name="Footer Placeholder 4">
            <a:extLst>
              <a:ext uri="{FF2B5EF4-FFF2-40B4-BE49-F238E27FC236}">
                <a16:creationId xmlns:a16="http://schemas.microsoft.com/office/drawing/2014/main" id="{971F6773-6A7D-32E6-DDFD-9857F737D4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63DBFA-E710-3D2A-4528-792649D65D06}"/>
              </a:ext>
            </a:extLst>
          </p:cNvPr>
          <p:cNvSpPr>
            <a:spLocks noGrp="1"/>
          </p:cNvSpPr>
          <p:nvPr>
            <p:ph type="sldNum" sz="quarter" idx="12"/>
          </p:nvPr>
        </p:nvSpPr>
        <p:spPr/>
        <p:txBody>
          <a:bodyPr/>
          <a:lstStyle/>
          <a:p>
            <a:fld id="{7FAB2F0A-2C30-49CD-95E1-508C33657825}" type="slidenum">
              <a:rPr lang="en-IN" smtClean="0"/>
              <a:t>‹#›</a:t>
            </a:fld>
            <a:endParaRPr lang="en-IN"/>
          </a:p>
        </p:txBody>
      </p:sp>
    </p:spTree>
    <p:extLst>
      <p:ext uri="{BB962C8B-B14F-4D97-AF65-F5344CB8AC3E}">
        <p14:creationId xmlns:p14="http://schemas.microsoft.com/office/powerpoint/2010/main" val="1064801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339819-05D9-7186-EF11-1E143B8A0A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F65571-4B00-3DB0-C431-037B132409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04D79F-9087-53F9-C354-7116C57F840D}"/>
              </a:ext>
            </a:extLst>
          </p:cNvPr>
          <p:cNvSpPr>
            <a:spLocks noGrp="1"/>
          </p:cNvSpPr>
          <p:nvPr>
            <p:ph type="dt" sz="half" idx="10"/>
          </p:nvPr>
        </p:nvSpPr>
        <p:spPr/>
        <p:txBody>
          <a:bodyPr/>
          <a:lstStyle/>
          <a:p>
            <a:fld id="{8B040E19-3B20-47BF-BACC-BBFF4FFDC190}" type="datetimeFigureOut">
              <a:rPr lang="en-IN" smtClean="0"/>
              <a:t>28-04-2026</a:t>
            </a:fld>
            <a:endParaRPr lang="en-IN"/>
          </a:p>
        </p:txBody>
      </p:sp>
      <p:sp>
        <p:nvSpPr>
          <p:cNvPr id="5" name="Footer Placeholder 4">
            <a:extLst>
              <a:ext uri="{FF2B5EF4-FFF2-40B4-BE49-F238E27FC236}">
                <a16:creationId xmlns:a16="http://schemas.microsoft.com/office/drawing/2014/main" id="{25FA5027-1450-3EB6-CC99-5D39355DB7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DB4438-C6BC-FF87-4CFB-32BF0625CB23}"/>
              </a:ext>
            </a:extLst>
          </p:cNvPr>
          <p:cNvSpPr>
            <a:spLocks noGrp="1"/>
          </p:cNvSpPr>
          <p:nvPr>
            <p:ph type="sldNum" sz="quarter" idx="12"/>
          </p:nvPr>
        </p:nvSpPr>
        <p:spPr/>
        <p:txBody>
          <a:bodyPr/>
          <a:lstStyle/>
          <a:p>
            <a:fld id="{7FAB2F0A-2C30-49CD-95E1-508C33657825}" type="slidenum">
              <a:rPr lang="en-IN" smtClean="0"/>
              <a:t>‹#›</a:t>
            </a:fld>
            <a:endParaRPr lang="en-IN"/>
          </a:p>
        </p:txBody>
      </p:sp>
    </p:spTree>
    <p:extLst>
      <p:ext uri="{BB962C8B-B14F-4D97-AF65-F5344CB8AC3E}">
        <p14:creationId xmlns:p14="http://schemas.microsoft.com/office/powerpoint/2010/main" val="92540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DAC825-616D-F21E-7A40-61DD284048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CCB673-354B-5A0E-FD64-BB89FFD9C5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A6F6CC-BA78-347A-1699-E5FA793825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040E19-3B20-47BF-BACC-BBFF4FFDC190}" type="datetimeFigureOut">
              <a:rPr lang="en-IN" smtClean="0"/>
              <a:t>28-04-2026</a:t>
            </a:fld>
            <a:endParaRPr lang="en-IN"/>
          </a:p>
        </p:txBody>
      </p:sp>
      <p:sp>
        <p:nvSpPr>
          <p:cNvPr id="5" name="Footer Placeholder 4">
            <a:extLst>
              <a:ext uri="{FF2B5EF4-FFF2-40B4-BE49-F238E27FC236}">
                <a16:creationId xmlns:a16="http://schemas.microsoft.com/office/drawing/2014/main" id="{071A1BAE-8374-A355-A7E0-2B069088B9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B6A3300-2227-4F68-3C0F-99F37153E7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AB2F0A-2C30-49CD-95E1-508C33657825}" type="slidenum">
              <a:rPr lang="en-IN" smtClean="0"/>
              <a:t>‹#›</a:t>
            </a:fld>
            <a:endParaRPr lang="en-IN"/>
          </a:p>
        </p:txBody>
      </p:sp>
    </p:spTree>
    <p:extLst>
      <p:ext uri="{BB962C8B-B14F-4D97-AF65-F5344CB8AC3E}">
        <p14:creationId xmlns:p14="http://schemas.microsoft.com/office/powerpoint/2010/main" val="4038488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280B1-2190-CDED-613F-CE08D2ED86DE}"/>
              </a:ext>
            </a:extLst>
          </p:cNvPr>
          <p:cNvSpPr>
            <a:spLocks noGrp="1"/>
          </p:cNvSpPr>
          <p:nvPr>
            <p:ph type="ctrTitle"/>
          </p:nvPr>
        </p:nvSpPr>
        <p:spPr>
          <a:xfrm>
            <a:off x="447040" y="414335"/>
            <a:ext cx="10942320" cy="1830845"/>
          </a:xfrm>
        </p:spPr>
        <p:txBody>
          <a:bodyPr>
            <a:normAutofit fontScale="90000"/>
          </a:bodyPr>
          <a:lstStyle/>
          <a:p>
            <a:br>
              <a:rPr lang="en-IN" sz="2800" dirty="0">
                <a:solidFill>
                  <a:srgbClr val="FF0000"/>
                </a:solidFill>
                <a:latin typeface="Times New Roman" panose="02020603050405020304" pitchFamily="18" charset="0"/>
                <a:cs typeface="Times New Roman" panose="02020603050405020304" pitchFamily="18" charset="0"/>
              </a:rPr>
            </a:br>
            <a:br>
              <a:rPr lang="en-IN" sz="2800" dirty="0">
                <a:solidFill>
                  <a:srgbClr val="FF0000"/>
                </a:solidFill>
                <a:latin typeface="Times New Roman" panose="02020603050405020304" pitchFamily="18" charset="0"/>
                <a:cs typeface="Times New Roman" panose="02020603050405020304" pitchFamily="18" charset="0"/>
              </a:rPr>
            </a:br>
            <a:br>
              <a:rPr lang="en-IN" sz="2800" dirty="0">
                <a:solidFill>
                  <a:srgbClr val="FF0000"/>
                </a:solidFill>
                <a:latin typeface="Times New Roman" panose="02020603050405020304" pitchFamily="18" charset="0"/>
                <a:cs typeface="Times New Roman" panose="02020603050405020304" pitchFamily="18" charset="0"/>
              </a:rPr>
            </a:br>
            <a:br>
              <a:rPr lang="en-IN" sz="2800" dirty="0">
                <a:solidFill>
                  <a:srgbClr val="FF0000"/>
                </a:solidFill>
                <a:latin typeface="Times New Roman" panose="02020603050405020304" pitchFamily="18" charset="0"/>
                <a:cs typeface="Times New Roman" panose="02020603050405020304" pitchFamily="18" charset="0"/>
              </a:rPr>
            </a:br>
            <a:br>
              <a:rPr lang="en-IN" sz="2800" dirty="0">
                <a:solidFill>
                  <a:srgbClr val="FF0000"/>
                </a:solidFill>
                <a:latin typeface="Times New Roman" panose="02020603050405020304" pitchFamily="18" charset="0"/>
                <a:cs typeface="Times New Roman" panose="02020603050405020304" pitchFamily="18" charset="0"/>
              </a:rPr>
            </a:br>
            <a:br>
              <a:rPr lang="en-IN" sz="2800" dirty="0">
                <a:solidFill>
                  <a:srgbClr val="FF0000"/>
                </a:solidFill>
                <a:latin typeface="Times New Roman" panose="02020603050405020304" pitchFamily="18" charset="0"/>
                <a:cs typeface="Times New Roman" panose="02020603050405020304" pitchFamily="18" charset="0"/>
              </a:rPr>
            </a:br>
            <a:br>
              <a:rPr lang="en-IN" sz="2800" dirty="0">
                <a:solidFill>
                  <a:srgbClr val="FF0000"/>
                </a:solidFill>
                <a:latin typeface="Times New Roman" panose="02020603050405020304" pitchFamily="18" charset="0"/>
                <a:cs typeface="Times New Roman" panose="02020603050405020304" pitchFamily="18" charset="0"/>
              </a:rPr>
            </a:br>
            <a:br>
              <a:rPr lang="en-IN" sz="2800" dirty="0">
                <a:solidFill>
                  <a:srgbClr val="FF0000"/>
                </a:solidFill>
                <a:latin typeface="Times New Roman" panose="02020603050405020304" pitchFamily="18" charset="0"/>
                <a:cs typeface="Times New Roman" panose="02020603050405020304" pitchFamily="18" charset="0"/>
              </a:rPr>
            </a:br>
            <a:br>
              <a:rPr lang="en-IN" sz="2800" dirty="0">
                <a:solidFill>
                  <a:srgbClr val="FF0000"/>
                </a:solidFill>
                <a:latin typeface="Times New Roman" panose="02020603050405020304" pitchFamily="18" charset="0"/>
                <a:cs typeface="Times New Roman" panose="02020603050405020304" pitchFamily="18" charset="0"/>
              </a:rPr>
            </a:br>
            <a:br>
              <a:rPr lang="en-IN" sz="2800" dirty="0">
                <a:solidFill>
                  <a:srgbClr val="FF0000"/>
                </a:solidFill>
                <a:latin typeface="Times New Roman" panose="02020603050405020304" pitchFamily="18" charset="0"/>
                <a:cs typeface="Times New Roman" panose="02020603050405020304" pitchFamily="18" charset="0"/>
              </a:rPr>
            </a:br>
            <a:br>
              <a:rPr lang="en-IN" sz="2800" dirty="0">
                <a:solidFill>
                  <a:srgbClr val="FF0000"/>
                </a:solidFill>
                <a:latin typeface="Times New Roman" panose="02020603050405020304" pitchFamily="18" charset="0"/>
                <a:cs typeface="Times New Roman" panose="02020603050405020304" pitchFamily="18" charset="0"/>
              </a:rPr>
            </a:br>
            <a:r>
              <a:rPr lang="en-IN" sz="2800" dirty="0">
                <a:solidFill>
                  <a:srgbClr val="FF0000"/>
                </a:solidFill>
                <a:latin typeface="Times New Roman" panose="02020603050405020304" pitchFamily="18" charset="0"/>
                <a:cs typeface="Times New Roman" panose="02020603050405020304" pitchFamily="18" charset="0"/>
              </a:rPr>
              <a:t>21ECP302L- PROJECT</a:t>
            </a:r>
            <a:br>
              <a:rPr lang="en-IN" sz="2800" dirty="0">
                <a:solidFill>
                  <a:srgbClr val="FF0000"/>
                </a:solidFill>
                <a:latin typeface="Times New Roman" panose="02020603050405020304" pitchFamily="18" charset="0"/>
                <a:cs typeface="Times New Roman" panose="02020603050405020304" pitchFamily="18" charset="0"/>
              </a:rPr>
            </a:br>
            <a:r>
              <a:rPr lang="en-IN" sz="2800" dirty="0">
                <a:solidFill>
                  <a:srgbClr val="FF0000"/>
                </a:solidFill>
                <a:latin typeface="Times New Roman" panose="02020603050405020304" pitchFamily="18" charset="0"/>
                <a:cs typeface="Times New Roman" panose="02020603050405020304" pitchFamily="18" charset="0"/>
              </a:rPr>
              <a:t>Review -2</a:t>
            </a:r>
            <a:br>
              <a:rPr lang="en-IN" sz="5300" dirty="0">
                <a:solidFill>
                  <a:srgbClr val="FF0000"/>
                </a:solidFill>
                <a:latin typeface="Times New Roman" panose="02020603050405020304" pitchFamily="18" charset="0"/>
                <a:cs typeface="Times New Roman" panose="02020603050405020304" pitchFamily="18" charset="0"/>
              </a:rPr>
            </a:br>
            <a:r>
              <a:rPr lang="en-US" sz="4000" b="1" dirty="0">
                <a:solidFill>
                  <a:srgbClr val="FF0000"/>
                </a:solidFill>
                <a:latin typeface="Times New Roman" panose="02020603050405020304" pitchFamily="18" charset="0"/>
                <a:cs typeface="Times New Roman" panose="02020603050405020304" pitchFamily="18" charset="0"/>
              </a:rPr>
              <a:t>Context Aware Sign Language Translation Glove</a:t>
            </a:r>
            <a:br>
              <a:rPr lang="en-IN" sz="4400" b="1" dirty="0">
                <a:solidFill>
                  <a:srgbClr val="FF0000"/>
                </a:solidFill>
                <a:latin typeface="Times New Roman" panose="02020603050405020304" pitchFamily="18" charset="0"/>
                <a:cs typeface="Times New Roman" panose="02020603050405020304" pitchFamily="18" charset="0"/>
              </a:rPr>
            </a:br>
            <a:endParaRPr lang="en-IN" sz="4400" dirty="0">
              <a:solidFill>
                <a:srgbClr val="FF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774EB5C-B6E5-F231-AC4C-87C6E6204373}"/>
              </a:ext>
            </a:extLst>
          </p:cNvPr>
          <p:cNvSpPr>
            <a:spLocks noGrp="1"/>
          </p:cNvSpPr>
          <p:nvPr>
            <p:ph type="subTitle" idx="1"/>
          </p:nvPr>
        </p:nvSpPr>
        <p:spPr>
          <a:xfrm>
            <a:off x="447040" y="2245180"/>
            <a:ext cx="5821680" cy="3667940"/>
          </a:xfrm>
        </p:spPr>
        <p:txBody>
          <a:bodyPr>
            <a:normAutofit lnSpcReduction="10000"/>
          </a:bodyPr>
          <a:lstStyle/>
          <a:p>
            <a:pPr algn="l"/>
            <a:endParaRPr lang="en-IN" dirty="0"/>
          </a:p>
          <a:p>
            <a:pPr algn="l"/>
            <a:endParaRPr lang="en-IN" dirty="0"/>
          </a:p>
          <a:p>
            <a:pPr algn="l"/>
            <a:r>
              <a:rPr lang="en-IN" dirty="0">
                <a:latin typeface="Times New Roman" panose="02020603050405020304" pitchFamily="18" charset="0"/>
                <a:cs typeface="Times New Roman" panose="02020603050405020304" pitchFamily="18" charset="0"/>
              </a:rPr>
              <a:t>Guide Name: Dr. Monika R</a:t>
            </a:r>
          </a:p>
          <a:p>
            <a:pPr algn="l"/>
            <a:r>
              <a:rPr lang="en-IN" dirty="0">
                <a:latin typeface="Times New Roman" panose="02020603050405020304" pitchFamily="18" charset="0"/>
                <a:cs typeface="Times New Roman" panose="02020603050405020304" pitchFamily="18" charset="0"/>
              </a:rPr>
              <a:t>Designation: Assistant Professor			</a:t>
            </a:r>
          </a:p>
          <a:p>
            <a:pPr algn="l"/>
            <a:r>
              <a:rPr lang="en-IN" dirty="0">
                <a:latin typeface="Times New Roman" panose="02020603050405020304" pitchFamily="18" charset="0"/>
                <a:cs typeface="Times New Roman" panose="02020603050405020304" pitchFamily="18" charset="0"/>
              </a:rPr>
              <a:t>    </a:t>
            </a:r>
          </a:p>
          <a:p>
            <a:pPr algn="l"/>
            <a:r>
              <a:rPr lang="en-IN" dirty="0">
                <a:latin typeface="Times New Roman" panose="02020603050405020304" pitchFamily="18" charset="0"/>
                <a:cs typeface="Times New Roman" panose="02020603050405020304" pitchFamily="18" charset="0"/>
              </a:rPr>
              <a:t>Project Coordinator: Dr . </a:t>
            </a:r>
            <a:r>
              <a:rPr lang="en-IN" dirty="0" err="1">
                <a:latin typeface="Times New Roman" panose="02020603050405020304" pitchFamily="18" charset="0"/>
                <a:cs typeface="Times New Roman" panose="02020603050405020304" pitchFamily="18" charset="0"/>
              </a:rPr>
              <a:t>Bashyam.S</a:t>
            </a:r>
            <a:r>
              <a:rPr lang="en-IN" dirty="0">
                <a:latin typeface="Times New Roman" panose="02020603050405020304" pitchFamily="18" charset="0"/>
                <a:cs typeface="Times New Roman" panose="02020603050405020304" pitchFamily="18" charset="0"/>
              </a:rPr>
              <a:t> </a:t>
            </a:r>
          </a:p>
          <a:p>
            <a:pPr algn="l"/>
            <a:r>
              <a:rPr lang="en-IN" dirty="0">
                <a:latin typeface="Times New Roman" panose="02020603050405020304" pitchFamily="18" charset="0"/>
                <a:cs typeface="Times New Roman" panose="02020603050405020304" pitchFamily="18" charset="0"/>
              </a:rPr>
              <a:t>Designation: Assistant Professor </a:t>
            </a:r>
            <a:r>
              <a:rPr lang="en-IN" dirty="0"/>
              <a:t>		           		</a:t>
            </a:r>
          </a:p>
        </p:txBody>
      </p:sp>
      <p:sp>
        <p:nvSpPr>
          <p:cNvPr id="4" name="TextBox 3">
            <a:extLst>
              <a:ext uri="{FF2B5EF4-FFF2-40B4-BE49-F238E27FC236}">
                <a16:creationId xmlns:a16="http://schemas.microsoft.com/office/drawing/2014/main" id="{29331565-AE35-246D-3B52-BB6AB454F289}"/>
              </a:ext>
            </a:extLst>
          </p:cNvPr>
          <p:cNvSpPr txBox="1"/>
          <p:nvPr/>
        </p:nvSpPr>
        <p:spPr>
          <a:xfrm>
            <a:off x="7801337" y="4612821"/>
            <a:ext cx="4390663" cy="1754326"/>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TEAM MEMBERS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VIJAY.R (RA2311004010071)</a:t>
            </a:r>
          </a:p>
          <a:p>
            <a:r>
              <a:rPr lang="en-IN" dirty="0">
                <a:latin typeface="Times New Roman" panose="02020603050405020304" pitchFamily="18" charset="0"/>
                <a:cs typeface="Times New Roman" panose="02020603050405020304" pitchFamily="18" charset="0"/>
              </a:rPr>
              <a:t>DASS.J (RA2311004010072)</a:t>
            </a:r>
          </a:p>
          <a:p>
            <a:r>
              <a:rPr lang="en-IN" dirty="0">
                <a:latin typeface="Times New Roman" panose="02020603050405020304" pitchFamily="18" charset="0"/>
                <a:cs typeface="Times New Roman" panose="02020603050405020304" pitchFamily="18" charset="0"/>
              </a:rPr>
              <a:t>HARISH.K (RA2311004010096)</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III </a:t>
            </a:r>
            <a:r>
              <a:rPr lang="en-IN" dirty="0" err="1">
                <a:latin typeface="Times New Roman" panose="02020603050405020304" pitchFamily="18" charset="0"/>
                <a:cs typeface="Times New Roman" panose="02020603050405020304" pitchFamily="18" charset="0"/>
              </a:rPr>
              <a:t>year,Department</a:t>
            </a:r>
            <a:r>
              <a:rPr lang="en-IN" dirty="0">
                <a:latin typeface="Times New Roman" panose="02020603050405020304" pitchFamily="18" charset="0"/>
                <a:cs typeface="Times New Roman" panose="02020603050405020304" pitchFamily="18" charset="0"/>
              </a:rPr>
              <a:t> of ECE,SRM IST</a:t>
            </a:r>
          </a:p>
        </p:txBody>
      </p:sp>
    </p:spTree>
    <p:extLst>
      <p:ext uri="{BB962C8B-B14F-4D97-AF65-F5344CB8AC3E}">
        <p14:creationId xmlns:p14="http://schemas.microsoft.com/office/powerpoint/2010/main" val="27178365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8F878-89A7-C088-9F22-F29ECCC78811}"/>
              </a:ext>
            </a:extLst>
          </p:cNvPr>
          <p:cNvSpPr>
            <a:spLocks noGrp="1"/>
          </p:cNvSpPr>
          <p:nvPr>
            <p:ph type="title"/>
          </p:nvPr>
        </p:nvSpPr>
        <p:spPr>
          <a:xfrm>
            <a:off x="678094" y="92468"/>
            <a:ext cx="10675706" cy="904126"/>
          </a:xfrm>
        </p:spPr>
        <p:txBody>
          <a:bodyPr>
            <a:normAutofit/>
          </a:bodyPr>
          <a:lstStyle/>
          <a:p>
            <a:r>
              <a:rPr lang="en-IN" sz="4000" dirty="0">
                <a:solidFill>
                  <a:srgbClr val="FF000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8B499CC-74A5-A75C-22D9-816074EDCF4C}"/>
              </a:ext>
            </a:extLst>
          </p:cNvPr>
          <p:cNvSpPr>
            <a:spLocks noGrp="1"/>
          </p:cNvSpPr>
          <p:nvPr>
            <p:ph idx="1"/>
          </p:nvPr>
        </p:nvSpPr>
        <p:spPr>
          <a:xfrm>
            <a:off x="678094" y="996594"/>
            <a:ext cx="10675706" cy="5496281"/>
          </a:xfrm>
        </p:spPr>
        <p:txBody>
          <a:bodyPr/>
          <a:lstStyle/>
          <a:p>
            <a:pPr algn="just"/>
            <a:r>
              <a:rPr lang="en-US" dirty="0">
                <a:latin typeface="Times New Roman" panose="02020603050405020304" pitchFamily="18" charset="0"/>
                <a:cs typeface="Times New Roman" panose="02020603050405020304" pitchFamily="18" charset="0"/>
              </a:rPr>
              <a:t>Assistive communication gloves translate sign language gestures into speech using flex and IMU sensors, but most systems lack emotion awareness and contextual intelligence.</a:t>
            </a:r>
          </a:p>
          <a:p>
            <a:pPr algn="just"/>
            <a:r>
              <a:rPr lang="en-US" dirty="0"/>
              <a:t>Individual with hearing, speech, and mobility impairments </a:t>
            </a:r>
            <a:r>
              <a:rPr lang="en-US" dirty="0">
                <a:latin typeface="Times New Roman" panose="02020603050405020304" pitchFamily="18" charset="0"/>
                <a:cs typeface="Times New Roman" panose="02020603050405020304" pitchFamily="18" charset="0"/>
              </a:rPr>
              <a:t>face communication challenges in daily and emergency situations. An intelligent, emotion-aware system can improve clarity, independence, and safety.</a:t>
            </a:r>
          </a:p>
          <a:p>
            <a:pPr algn="just"/>
            <a:r>
              <a:rPr lang="en-US" dirty="0">
                <a:latin typeface="Times New Roman" panose="02020603050405020304" pitchFamily="18" charset="0"/>
                <a:cs typeface="Times New Roman" panose="02020603050405020304" pitchFamily="18" charset="0"/>
              </a:rPr>
              <a:t>The proposed embedded glove integrates IMU-based gesture dynamics, machine learning, context-based sentence prediction, and real-time voice feedback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848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AC859-CC42-CB33-E285-1DA2C073FC80}"/>
              </a:ext>
            </a:extLst>
          </p:cNvPr>
          <p:cNvSpPr>
            <a:spLocks noGrp="1"/>
          </p:cNvSpPr>
          <p:nvPr>
            <p:ph type="title"/>
          </p:nvPr>
        </p:nvSpPr>
        <p:spPr>
          <a:xfrm>
            <a:off x="554804" y="-92466"/>
            <a:ext cx="10798996" cy="1202076"/>
          </a:xfrm>
        </p:spPr>
        <p:txBody>
          <a:bodyPr>
            <a:normAutofit/>
          </a:bodyPr>
          <a:lstStyle/>
          <a:p>
            <a:r>
              <a:rPr lang="en-IN" sz="4000" dirty="0">
                <a:solidFill>
                  <a:srgbClr val="FF0000"/>
                </a:solidFill>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0619CDBE-D884-8891-12AD-688069EA7D55}"/>
              </a:ext>
            </a:extLst>
          </p:cNvPr>
          <p:cNvSpPr>
            <a:spLocks noGrp="1"/>
          </p:cNvSpPr>
          <p:nvPr>
            <p:ph idx="1"/>
          </p:nvPr>
        </p:nvSpPr>
        <p:spPr>
          <a:xfrm>
            <a:off x="554805" y="883578"/>
            <a:ext cx="10798996" cy="5293385"/>
          </a:xfrm>
        </p:spPr>
        <p:txBody>
          <a:bodyPr>
            <a:noAutofit/>
          </a:bodyPr>
          <a:lstStyle/>
          <a:p>
            <a:pPr algn="just"/>
            <a:r>
              <a:rPr lang="en-US" dirty="0"/>
              <a:t>Individual with hearing, speech, and mobility impairments </a:t>
            </a:r>
            <a:r>
              <a:rPr lang="en-US" dirty="0">
                <a:latin typeface="Times New Roman" panose="02020603050405020304" pitchFamily="18" charset="0"/>
                <a:cs typeface="Times New Roman" panose="02020603050405020304" pitchFamily="18" charset="0"/>
              </a:rPr>
              <a:t>often struggle to communicate effectively in real-time situations, especially in emergencies and healthcare environments. Existing assistive tools lack emotional understanding and contextual intelligence, limiting natural communication.</a:t>
            </a:r>
          </a:p>
          <a:p>
            <a:pPr algn="just"/>
            <a:r>
              <a:rPr lang="en-US" dirty="0">
                <a:latin typeface="Times New Roman" panose="02020603050405020304" pitchFamily="18" charset="0"/>
                <a:cs typeface="Times New Roman" panose="02020603050405020304" pitchFamily="18" charset="0"/>
              </a:rPr>
              <a:t>Most sign language gloves only convert gestures into individual words without emotion detection, sentence correction, or emergency recognition. They rely on basic threshold logic and do not integrate intelligent edge-based processing.</a:t>
            </a:r>
          </a:p>
          <a:p>
            <a:pPr algn="just"/>
            <a:r>
              <a:rPr lang="en-US" dirty="0">
                <a:latin typeface="Times New Roman" panose="02020603050405020304" pitchFamily="18" charset="0"/>
                <a:cs typeface="Times New Roman" panose="02020603050405020304" pitchFamily="18" charset="0"/>
              </a:rPr>
              <a:t>The proposed system enables emotion-aware communication, context-based sentence formation, and emergency alert capability using embedded AI. This improves communication clarity, user independence, and real-world applicability in assistive healthcare and daily interaction scenarios.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1127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DC503-8911-1BAD-DF43-D3694CA0269D}"/>
              </a:ext>
            </a:extLst>
          </p:cNvPr>
          <p:cNvSpPr>
            <a:spLocks noGrp="1"/>
          </p:cNvSpPr>
          <p:nvPr>
            <p:ph type="title"/>
          </p:nvPr>
        </p:nvSpPr>
        <p:spPr>
          <a:xfrm>
            <a:off x="369870" y="0"/>
            <a:ext cx="10983930" cy="1047964"/>
          </a:xfrm>
        </p:spPr>
        <p:txBody>
          <a:bodyPr>
            <a:normAutofit/>
          </a:bodyPr>
          <a:lstStyle/>
          <a:p>
            <a:r>
              <a:rPr lang="en-IN" sz="4000" dirty="0">
                <a:solidFill>
                  <a:srgbClr val="FF0000"/>
                </a:solidFill>
                <a:latin typeface="Times New Roman" panose="02020603050405020304" pitchFamily="18" charset="0"/>
                <a:cs typeface="Times New Roman" panose="02020603050405020304" pitchFamily="18" charset="0"/>
              </a:rPr>
              <a:t>LITERATURE REVIEW</a:t>
            </a:r>
          </a:p>
        </p:txBody>
      </p:sp>
      <p:graphicFrame>
        <p:nvGraphicFramePr>
          <p:cNvPr id="4" name="Content Placeholder 3">
            <a:extLst>
              <a:ext uri="{FF2B5EF4-FFF2-40B4-BE49-F238E27FC236}">
                <a16:creationId xmlns:a16="http://schemas.microsoft.com/office/drawing/2014/main" id="{FA5073CC-66B8-F852-CD2C-9AAD9B06BE14}"/>
              </a:ext>
            </a:extLst>
          </p:cNvPr>
          <p:cNvGraphicFramePr>
            <a:graphicFrameLocks noGrp="1"/>
          </p:cNvGraphicFramePr>
          <p:nvPr>
            <p:ph idx="1"/>
            <p:extLst>
              <p:ext uri="{D42A27DB-BD31-4B8C-83A1-F6EECF244321}">
                <p14:modId xmlns:p14="http://schemas.microsoft.com/office/powerpoint/2010/main" val="3800957101"/>
              </p:ext>
            </p:extLst>
          </p:nvPr>
        </p:nvGraphicFramePr>
        <p:xfrm>
          <a:off x="369870" y="1047964"/>
          <a:ext cx="10983930" cy="5213419"/>
        </p:xfrm>
        <a:graphic>
          <a:graphicData uri="http://schemas.openxmlformats.org/drawingml/2006/table">
            <a:tbl>
              <a:tblPr firstRow="1">
                <a:tableStyleId>{72833802-FEF1-4C79-8D5D-14CF1EAF98D9}</a:tableStyleId>
              </a:tblPr>
              <a:tblGrid>
                <a:gridCol w="1036831">
                  <a:extLst>
                    <a:ext uri="{9D8B030D-6E8A-4147-A177-3AD203B41FA5}">
                      <a16:colId xmlns:a16="http://schemas.microsoft.com/office/drawing/2014/main" val="4272758968"/>
                    </a:ext>
                  </a:extLst>
                </a:gridCol>
                <a:gridCol w="3672110">
                  <a:extLst>
                    <a:ext uri="{9D8B030D-6E8A-4147-A177-3AD203B41FA5}">
                      <a16:colId xmlns:a16="http://schemas.microsoft.com/office/drawing/2014/main" val="3017643279"/>
                    </a:ext>
                  </a:extLst>
                </a:gridCol>
                <a:gridCol w="2916087">
                  <a:extLst>
                    <a:ext uri="{9D8B030D-6E8A-4147-A177-3AD203B41FA5}">
                      <a16:colId xmlns:a16="http://schemas.microsoft.com/office/drawing/2014/main" val="113090353"/>
                    </a:ext>
                  </a:extLst>
                </a:gridCol>
                <a:gridCol w="3358902">
                  <a:extLst>
                    <a:ext uri="{9D8B030D-6E8A-4147-A177-3AD203B41FA5}">
                      <a16:colId xmlns:a16="http://schemas.microsoft.com/office/drawing/2014/main" val="1804248609"/>
                    </a:ext>
                  </a:extLst>
                </a:gridCol>
              </a:tblGrid>
              <a:tr h="409901">
                <a:tc>
                  <a:txBody>
                    <a:bodyPr/>
                    <a:lstStyle/>
                    <a:p>
                      <a:pPr>
                        <a:buNone/>
                      </a:pPr>
                      <a:r>
                        <a:rPr lang="en-IN" sz="1400" dirty="0" err="1">
                          <a:latin typeface="Times New Roman" panose="02020603050405020304" pitchFamily="18" charset="0"/>
                          <a:cs typeface="Times New Roman" panose="02020603050405020304" pitchFamily="18" charset="0"/>
                        </a:rPr>
                        <a:t>S.No</a:t>
                      </a:r>
                      <a:endParaRPr lang="en-IN" sz="1400" dirty="0">
                        <a:latin typeface="Times New Roman" panose="02020603050405020304" pitchFamily="18" charset="0"/>
                        <a:cs typeface="Times New Roman" panose="02020603050405020304" pitchFamily="18" charset="0"/>
                      </a:endParaRP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buNone/>
                      </a:pPr>
                      <a:r>
                        <a:rPr lang="en-IN" sz="1400" dirty="0">
                          <a:latin typeface="Times New Roman" panose="02020603050405020304" pitchFamily="18" charset="0"/>
                          <a:cs typeface="Times New Roman" panose="02020603050405020304" pitchFamily="18" charset="0"/>
                        </a:rPr>
                        <a:t>Journal Paper Title</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buNone/>
                      </a:pPr>
                      <a:r>
                        <a:rPr lang="en-IN" sz="1400">
                          <a:latin typeface="Times New Roman" panose="02020603050405020304" pitchFamily="18" charset="0"/>
                          <a:cs typeface="Times New Roman" panose="02020603050405020304" pitchFamily="18" charset="0"/>
                        </a:rPr>
                        <a:t>Journal / Conference Details</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buNone/>
                      </a:pPr>
                      <a:r>
                        <a:rPr lang="en-IN" sz="1400" dirty="0">
                          <a:latin typeface="Times New Roman" panose="02020603050405020304" pitchFamily="18" charset="0"/>
                          <a:cs typeface="Times New Roman" panose="02020603050405020304" pitchFamily="18" charset="0"/>
                        </a:rPr>
                        <a:t>Inference</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4178946829"/>
                  </a:ext>
                </a:extLst>
              </a:tr>
              <a:tr h="1288765">
                <a:tc>
                  <a:txBody>
                    <a:bodyPr/>
                    <a:lstStyle/>
                    <a:p>
                      <a:pPr>
                        <a:buNone/>
                      </a:pPr>
                      <a:r>
                        <a:rPr lang="en-IN" sz="1400" dirty="0">
                          <a:latin typeface="Times New Roman" panose="02020603050405020304" pitchFamily="18" charset="0"/>
                          <a:cs typeface="Times New Roman" panose="02020603050405020304" pitchFamily="18" charset="0"/>
                        </a:rPr>
                        <a:t>1</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IMU-Based Sign Language Recognition Using Machine Learning</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nl-NL" sz="1400" dirty="0">
                          <a:latin typeface="Times New Roman" panose="02020603050405020304" pitchFamily="18" charset="0"/>
                          <a:cs typeface="Times New Roman" panose="02020603050405020304" pitchFamily="18" charset="0"/>
                        </a:rPr>
                        <a:t>Zhang et al., IEEE Access, 2022, IEEE</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Demonstrated gesture classification using IMU data and ML algorithms. Focused only on gesture recognition without emotion or contextual intelligence.</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092614"/>
                  </a:ext>
                </a:extLst>
              </a:tr>
              <a:tr h="1112994">
                <a:tc>
                  <a:txBody>
                    <a:bodyPr/>
                    <a:lstStyle/>
                    <a:p>
                      <a:pPr>
                        <a:buNone/>
                      </a:pPr>
                      <a:r>
                        <a:rPr lang="en-IN" sz="1400">
                          <a:latin typeface="Times New Roman" panose="02020603050405020304" pitchFamily="18" charset="0"/>
                          <a:cs typeface="Times New Roman" panose="02020603050405020304" pitchFamily="18" charset="0"/>
                        </a:rPr>
                        <a:t>2</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Smart Glove for Sign Language Translation Using Flex Sensors</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Kumar et al., International Journal of Engineering Research, 2021, Springer</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Used flex sensors for gesture-to-word conversion. System lacked dynamic motion analysis and emotional inference.</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0286792"/>
                  </a:ext>
                </a:extLst>
              </a:tr>
              <a:tr h="1288765">
                <a:tc>
                  <a:txBody>
                    <a:bodyPr/>
                    <a:lstStyle/>
                    <a:p>
                      <a:pPr>
                        <a:buNone/>
                      </a:pPr>
                      <a:r>
                        <a:rPr lang="en-IN" sz="1400" dirty="0">
                          <a:latin typeface="Times New Roman" panose="02020603050405020304" pitchFamily="18" charset="0"/>
                          <a:cs typeface="Times New Roman" panose="02020603050405020304" pitchFamily="18" charset="0"/>
                        </a:rPr>
                        <a:t>3</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latin typeface="Times New Roman" panose="02020603050405020304" pitchFamily="18" charset="0"/>
                          <a:cs typeface="Times New Roman" panose="02020603050405020304" pitchFamily="18" charset="0"/>
                        </a:rPr>
                        <a:t>Wearable Gesture Recognition System for Assistive Communication</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da-DK" sz="1400" dirty="0">
                          <a:latin typeface="Times New Roman" panose="02020603050405020304" pitchFamily="18" charset="0"/>
                          <a:cs typeface="Times New Roman" panose="02020603050405020304" pitchFamily="18" charset="0"/>
                        </a:rPr>
                        <a:t>Lee et al., Sensors, 2023, MDPI</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Proposed a wearable glove using motion sensors for sign translation. No integration of emotion detection or emergency functionality.</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7874179"/>
                  </a:ext>
                </a:extLst>
              </a:tr>
              <a:tr h="1112994">
                <a:tc>
                  <a:txBody>
                    <a:bodyPr/>
                    <a:lstStyle/>
                    <a:p>
                      <a:pPr>
                        <a:buNone/>
                      </a:pPr>
                      <a:r>
                        <a:rPr lang="en-IN" sz="1400">
                          <a:latin typeface="Times New Roman" panose="02020603050405020304" pitchFamily="18" charset="0"/>
                          <a:cs typeface="Times New Roman" panose="02020603050405020304" pitchFamily="18" charset="0"/>
                        </a:rPr>
                        <a:t>4</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Real-Time Sign Language Translation Using Embedded Systems</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latin typeface="Times New Roman" panose="02020603050405020304" pitchFamily="18" charset="0"/>
                          <a:cs typeface="Times New Roman" panose="02020603050405020304" pitchFamily="18" charset="0"/>
                        </a:rPr>
                        <a:t>Ahmed et al., IEEE International Conference on IoT, 2020, IEEE</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Implemented real-time embedded translation but limited to word-level mapping without contextual sentence formation.</a:t>
                      </a:r>
                    </a:p>
                  </a:txBody>
                  <a:tcPr marL="50597" marR="50597" marT="25298" marB="2529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0175958"/>
                  </a:ext>
                </a:extLst>
              </a:tr>
            </a:tbl>
          </a:graphicData>
        </a:graphic>
      </p:graphicFrame>
    </p:spTree>
    <p:extLst>
      <p:ext uri="{BB962C8B-B14F-4D97-AF65-F5344CB8AC3E}">
        <p14:creationId xmlns:p14="http://schemas.microsoft.com/office/powerpoint/2010/main" val="322927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A5E73AC-4E5F-2528-E60D-2BB9F4AF893E}"/>
              </a:ext>
            </a:extLst>
          </p:cNvPr>
          <p:cNvGraphicFramePr>
            <a:graphicFrameLocks noGrp="1"/>
          </p:cNvGraphicFramePr>
          <p:nvPr>
            <p:extLst>
              <p:ext uri="{D42A27DB-BD31-4B8C-83A1-F6EECF244321}">
                <p14:modId xmlns:p14="http://schemas.microsoft.com/office/powerpoint/2010/main" val="2015215370"/>
              </p:ext>
            </p:extLst>
          </p:nvPr>
        </p:nvGraphicFramePr>
        <p:xfrm>
          <a:off x="308226" y="922266"/>
          <a:ext cx="11588807" cy="5279922"/>
        </p:xfrm>
        <a:graphic>
          <a:graphicData uri="http://schemas.openxmlformats.org/drawingml/2006/table">
            <a:tbl>
              <a:tblPr/>
              <a:tblGrid>
                <a:gridCol w="907686">
                  <a:extLst>
                    <a:ext uri="{9D8B030D-6E8A-4147-A177-3AD203B41FA5}">
                      <a16:colId xmlns:a16="http://schemas.microsoft.com/office/drawing/2014/main" val="1683245573"/>
                    </a:ext>
                  </a:extLst>
                </a:gridCol>
                <a:gridCol w="3692112">
                  <a:extLst>
                    <a:ext uri="{9D8B030D-6E8A-4147-A177-3AD203B41FA5}">
                      <a16:colId xmlns:a16="http://schemas.microsoft.com/office/drawing/2014/main" val="836699240"/>
                    </a:ext>
                  </a:extLst>
                </a:gridCol>
                <a:gridCol w="3276100">
                  <a:extLst>
                    <a:ext uri="{9D8B030D-6E8A-4147-A177-3AD203B41FA5}">
                      <a16:colId xmlns:a16="http://schemas.microsoft.com/office/drawing/2014/main" val="3196909395"/>
                    </a:ext>
                  </a:extLst>
                </a:gridCol>
                <a:gridCol w="3712909">
                  <a:extLst>
                    <a:ext uri="{9D8B030D-6E8A-4147-A177-3AD203B41FA5}">
                      <a16:colId xmlns:a16="http://schemas.microsoft.com/office/drawing/2014/main" val="3383860640"/>
                    </a:ext>
                  </a:extLst>
                </a:gridCol>
              </a:tblGrid>
              <a:tr h="420360">
                <a:tc>
                  <a:txBody>
                    <a:bodyPr/>
                    <a:lstStyle/>
                    <a:p>
                      <a:pPr>
                        <a:buNone/>
                      </a:pPr>
                      <a:r>
                        <a:rPr lang="en-IN" sz="1100" dirty="0" err="1"/>
                        <a:t>S.No</a:t>
                      </a:r>
                      <a:endParaRPr lang="en-IN" sz="1100" dirty="0"/>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buNone/>
                      </a:pPr>
                      <a:r>
                        <a:rPr lang="en-IN" sz="1100" dirty="0"/>
                        <a:t>Journal Paper Title</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buNone/>
                      </a:pPr>
                      <a:r>
                        <a:rPr lang="en-IN" sz="1100" dirty="0"/>
                        <a:t>Journal / Conference Details</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buNone/>
                      </a:pPr>
                      <a:r>
                        <a:rPr lang="en-IN" sz="1100" dirty="0"/>
                        <a:t>Inference</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966273014"/>
                  </a:ext>
                </a:extLst>
              </a:tr>
              <a:tr h="1214890">
                <a:tc>
                  <a:txBody>
                    <a:bodyPr/>
                    <a:lstStyle/>
                    <a:p>
                      <a:pPr>
                        <a:buNone/>
                      </a:pPr>
                      <a:r>
                        <a:rPr lang="en-IN" sz="1400" dirty="0">
                          <a:latin typeface="Times New Roman" panose="02020603050405020304" pitchFamily="18" charset="0"/>
                          <a:cs typeface="Times New Roman" panose="02020603050405020304" pitchFamily="18" charset="0"/>
                        </a:rPr>
                        <a:t>5</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Emotion Recognition Using Motion Sensor Data</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1400">
                          <a:latin typeface="Times New Roman" panose="02020603050405020304" pitchFamily="18" charset="0"/>
                          <a:cs typeface="Times New Roman" panose="02020603050405020304" pitchFamily="18" charset="0"/>
                        </a:rPr>
                        <a:t>Park et al., </a:t>
                      </a:r>
                      <a:r>
                        <a:rPr lang="fr-FR" sz="1400" i="1">
                          <a:latin typeface="Times New Roman" panose="02020603050405020304" pitchFamily="18" charset="0"/>
                          <a:cs typeface="Times New Roman" panose="02020603050405020304" pitchFamily="18" charset="0"/>
                        </a:rPr>
                        <a:t>IEEE Sensors Journal</a:t>
                      </a:r>
                      <a:r>
                        <a:rPr lang="fr-FR" sz="1400">
                          <a:latin typeface="Times New Roman" panose="02020603050405020304" pitchFamily="18" charset="0"/>
                          <a:cs typeface="Times New Roman" panose="02020603050405020304" pitchFamily="18" charset="0"/>
                        </a:rPr>
                        <a:t>, 2020, IEEE</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latin typeface="Times New Roman" panose="02020603050405020304" pitchFamily="18" charset="0"/>
                          <a:cs typeface="Times New Roman" panose="02020603050405020304" pitchFamily="18" charset="0"/>
                        </a:rPr>
                        <a:t>Explored emotion detection through acceleration and motion patterns. Did not apply to assistive gloves or sign language systems.</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5097745"/>
                  </a:ext>
                </a:extLst>
              </a:tr>
              <a:tr h="1442228">
                <a:tc>
                  <a:txBody>
                    <a:bodyPr/>
                    <a:lstStyle/>
                    <a:p>
                      <a:pPr>
                        <a:buNone/>
                      </a:pPr>
                      <a:r>
                        <a:rPr lang="en-IN" sz="1400" dirty="0">
                          <a:latin typeface="Times New Roman" panose="02020603050405020304" pitchFamily="18" charset="0"/>
                          <a:cs typeface="Times New Roman" panose="02020603050405020304" pitchFamily="18" charset="0"/>
                        </a:rPr>
                        <a:t>6</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Edge AI for Wearable Health Monitoring Systems</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Silva et al., </a:t>
                      </a:r>
                      <a:r>
                        <a:rPr lang="en-US" sz="1400" i="1" dirty="0">
                          <a:latin typeface="Times New Roman" panose="02020603050405020304" pitchFamily="18" charset="0"/>
                          <a:cs typeface="Times New Roman" panose="02020603050405020304" pitchFamily="18" charset="0"/>
                        </a:rPr>
                        <a:t>ACM Transactions on Embedded Computing Systems</a:t>
                      </a:r>
                      <a:r>
                        <a:rPr lang="en-US" sz="1400" dirty="0">
                          <a:latin typeface="Times New Roman" panose="02020603050405020304" pitchFamily="18" charset="0"/>
                          <a:cs typeface="Times New Roman" panose="02020603050405020304" pitchFamily="18" charset="0"/>
                        </a:rPr>
                        <a:t>, 2024, ACM</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Demonstrated on-device ML processing for wearable devices. Supports feasibility of edge-based emotion classification in proposed project.</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921587"/>
                  </a:ext>
                </a:extLst>
              </a:tr>
              <a:tr h="987554">
                <a:tc>
                  <a:txBody>
                    <a:bodyPr/>
                    <a:lstStyle/>
                    <a:p>
                      <a:pPr>
                        <a:buNone/>
                      </a:pPr>
                      <a:r>
                        <a:rPr lang="en-IN" sz="1400" dirty="0">
                          <a:latin typeface="Times New Roman" panose="02020603050405020304" pitchFamily="18" charset="0"/>
                          <a:cs typeface="Times New Roman" panose="02020603050405020304" pitchFamily="18" charset="0"/>
                        </a:rPr>
                        <a:t>7</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Context-Aware Natural Language Processing for Assistive Devices</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1400" dirty="0">
                          <a:latin typeface="Times New Roman" panose="02020603050405020304" pitchFamily="18" charset="0"/>
                          <a:cs typeface="Times New Roman" panose="02020603050405020304" pitchFamily="18" charset="0"/>
                        </a:rPr>
                        <a:t>Rao et al., </a:t>
                      </a:r>
                      <a:r>
                        <a:rPr lang="fr-FR" sz="1400" i="1" dirty="0">
                          <a:latin typeface="Times New Roman" panose="02020603050405020304" pitchFamily="18" charset="0"/>
                          <a:cs typeface="Times New Roman" panose="02020603050405020304" pitchFamily="18" charset="0"/>
                        </a:rPr>
                        <a:t>IEEE Transactions on Affective </a:t>
                      </a:r>
                      <a:r>
                        <a:rPr lang="fr-FR" sz="1400" i="1" dirty="0" err="1">
                          <a:latin typeface="Times New Roman" panose="02020603050405020304" pitchFamily="18" charset="0"/>
                          <a:cs typeface="Times New Roman" panose="02020603050405020304" pitchFamily="18" charset="0"/>
                        </a:rPr>
                        <a:t>Computing</a:t>
                      </a:r>
                      <a:r>
                        <a:rPr lang="fr-FR" sz="1400" dirty="0">
                          <a:latin typeface="Times New Roman" panose="02020603050405020304" pitchFamily="18" charset="0"/>
                          <a:cs typeface="Times New Roman" panose="02020603050405020304" pitchFamily="18" charset="0"/>
                        </a:rPr>
                        <a:t>, 2021, IEEE</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Proposed NLP-based contextual sentence correction but not integrated with gesture-based systems.</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694244"/>
                  </a:ext>
                </a:extLst>
              </a:tr>
              <a:tr h="1214890">
                <a:tc>
                  <a:txBody>
                    <a:bodyPr/>
                    <a:lstStyle/>
                    <a:p>
                      <a:pPr>
                        <a:buNone/>
                      </a:pPr>
                      <a:r>
                        <a:rPr lang="en-IN" sz="1400" dirty="0">
                          <a:latin typeface="Times New Roman" panose="02020603050405020304" pitchFamily="18" charset="0"/>
                          <a:cs typeface="Times New Roman" panose="02020603050405020304" pitchFamily="18" charset="0"/>
                        </a:rPr>
                        <a:t>8</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Deep Learning-Based Dynamic Sign Language Recognition Using Sensor-Embedded Smart Gloves</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H. Zhou, Q. Wu, and T. Li, </a:t>
                      </a:r>
                      <a:r>
                        <a:rPr lang="en-US" sz="1400" i="1" dirty="0">
                          <a:latin typeface="Times New Roman" panose="02020603050405020304" pitchFamily="18" charset="0"/>
                          <a:cs typeface="Times New Roman" panose="02020603050405020304" pitchFamily="18" charset="0"/>
                        </a:rPr>
                        <a:t>IEEE Internet of Things Journal, 2024.</a:t>
                      </a:r>
                      <a:endParaRPr lang="en-IN" sz="1400" i="1" dirty="0">
                        <a:latin typeface="Times New Roman" panose="02020603050405020304" pitchFamily="18" charset="0"/>
                        <a:cs typeface="Times New Roman" panose="02020603050405020304" pitchFamily="18" charset="0"/>
                      </a:endParaRP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latin typeface="Times New Roman" panose="02020603050405020304" pitchFamily="18" charset="0"/>
                          <a:cs typeface="Times New Roman" panose="02020603050405020304" pitchFamily="18" charset="0"/>
                        </a:rPr>
                        <a:t>The study demonstrates that combining flex sensors and IMU with a CNN-LSTM model significantly improves dynamic sign language recognition accuracy in real-time edge environments.</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0745777"/>
                  </a:ext>
                </a:extLst>
              </a:tr>
            </a:tbl>
          </a:graphicData>
        </a:graphic>
      </p:graphicFrame>
    </p:spTree>
    <p:extLst>
      <p:ext uri="{BB962C8B-B14F-4D97-AF65-F5344CB8AC3E}">
        <p14:creationId xmlns:p14="http://schemas.microsoft.com/office/powerpoint/2010/main" val="2412283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5916C1E8-C794-D327-26E6-D138D9429B2B}"/>
              </a:ext>
            </a:extLst>
          </p:cNvPr>
          <p:cNvGraphicFramePr>
            <a:graphicFrameLocks noGrp="1"/>
          </p:cNvGraphicFramePr>
          <p:nvPr>
            <p:extLst>
              <p:ext uri="{D42A27DB-BD31-4B8C-83A1-F6EECF244321}">
                <p14:modId xmlns:p14="http://schemas.microsoft.com/office/powerpoint/2010/main" val="1928871870"/>
              </p:ext>
            </p:extLst>
          </p:nvPr>
        </p:nvGraphicFramePr>
        <p:xfrm>
          <a:off x="471949" y="1052053"/>
          <a:ext cx="10890366" cy="4732323"/>
        </p:xfrm>
        <a:graphic>
          <a:graphicData uri="http://schemas.openxmlformats.org/drawingml/2006/table">
            <a:tbl>
              <a:tblPr/>
              <a:tblGrid>
                <a:gridCol w="654828">
                  <a:extLst>
                    <a:ext uri="{9D8B030D-6E8A-4147-A177-3AD203B41FA5}">
                      <a16:colId xmlns:a16="http://schemas.microsoft.com/office/drawing/2014/main" val="2071421077"/>
                    </a:ext>
                  </a:extLst>
                </a:gridCol>
                <a:gridCol w="2987349">
                  <a:extLst>
                    <a:ext uri="{9D8B030D-6E8A-4147-A177-3AD203B41FA5}">
                      <a16:colId xmlns:a16="http://schemas.microsoft.com/office/drawing/2014/main" val="2440654666"/>
                    </a:ext>
                  </a:extLst>
                </a:gridCol>
                <a:gridCol w="3623645">
                  <a:extLst>
                    <a:ext uri="{9D8B030D-6E8A-4147-A177-3AD203B41FA5}">
                      <a16:colId xmlns:a16="http://schemas.microsoft.com/office/drawing/2014/main" val="913945872"/>
                    </a:ext>
                  </a:extLst>
                </a:gridCol>
                <a:gridCol w="3624544">
                  <a:extLst>
                    <a:ext uri="{9D8B030D-6E8A-4147-A177-3AD203B41FA5}">
                      <a16:colId xmlns:a16="http://schemas.microsoft.com/office/drawing/2014/main" val="1423691627"/>
                    </a:ext>
                  </a:extLst>
                </a:gridCol>
              </a:tblGrid>
              <a:tr h="849391">
                <a:tc>
                  <a:txBody>
                    <a:bodyPr/>
                    <a:lstStyle/>
                    <a:p>
                      <a:pPr>
                        <a:buNone/>
                      </a:pPr>
                      <a:r>
                        <a:rPr lang="en-IN" dirty="0" err="1"/>
                        <a:t>S.No</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buNone/>
                      </a:pPr>
                      <a:r>
                        <a:rPr lang="en-IN" dirty="0"/>
                        <a:t>Journal Paper Title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buNone/>
                      </a:pPr>
                      <a:r>
                        <a:rPr lang="en-IN"/>
                        <a:t>Journal / Conference Details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buNone/>
                      </a:pPr>
                      <a:r>
                        <a:rPr lang="en-IN" dirty="0"/>
                        <a:t>Inference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871479718"/>
                  </a:ext>
                </a:extLst>
              </a:tr>
              <a:tr h="1941466">
                <a:tc>
                  <a:txBody>
                    <a:bodyPr/>
                    <a:lstStyle/>
                    <a:p>
                      <a:pPr>
                        <a:buNone/>
                      </a:pPr>
                      <a:r>
                        <a:rPr lang="en-IN"/>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Machine Learning-Based Sign Language Recognition Using Sensor Fusion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Patel et al., </a:t>
                      </a:r>
                      <a:r>
                        <a:rPr lang="en-IN" i="1" dirty="0"/>
                        <a:t>Procedia Computer Science</a:t>
                      </a:r>
                      <a:r>
                        <a:rPr lang="en-IN" dirty="0"/>
                        <a:t>, 2022, Elsevier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Used sensor fusion for improved gesture accuracy. Did not incorporate emotional intensity estimation.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1921430"/>
                  </a:ext>
                </a:extLst>
              </a:tr>
              <a:tr h="1941466">
                <a:tc>
                  <a:txBody>
                    <a:bodyPr/>
                    <a:lstStyle/>
                    <a:p>
                      <a:pPr>
                        <a:buNone/>
                      </a:pPr>
                      <a:r>
                        <a:rPr lang="en-IN"/>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Wearable Assistive Technology for Deaf and Mute Communication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Gomez et al., </a:t>
                      </a:r>
                      <a:r>
                        <a:rPr lang="en-IN" i="1"/>
                        <a:t>Springer Journal of Healthcare Engineering</a:t>
                      </a:r>
                      <a:r>
                        <a:rPr lang="en-IN"/>
                        <a:t>, 2022, Springer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Provided assistive communication solution but lacked emotion dynamics and contextual intelligence.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8215532"/>
                  </a:ext>
                </a:extLst>
              </a:tr>
            </a:tbl>
          </a:graphicData>
        </a:graphic>
      </p:graphicFrame>
    </p:spTree>
    <p:extLst>
      <p:ext uri="{BB962C8B-B14F-4D97-AF65-F5344CB8AC3E}">
        <p14:creationId xmlns:p14="http://schemas.microsoft.com/office/powerpoint/2010/main" val="588720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A2465-91D5-EDA9-B5EF-AE35624D159B}"/>
              </a:ext>
            </a:extLst>
          </p:cNvPr>
          <p:cNvSpPr>
            <a:spLocks noGrp="1"/>
          </p:cNvSpPr>
          <p:nvPr>
            <p:ph type="title"/>
          </p:nvPr>
        </p:nvSpPr>
        <p:spPr>
          <a:xfrm>
            <a:off x="359596" y="266218"/>
            <a:ext cx="7941923" cy="1006997"/>
          </a:xfrm>
        </p:spPr>
        <p:txBody>
          <a:bodyPr>
            <a:normAutofit/>
          </a:bodyPr>
          <a:lstStyle/>
          <a:p>
            <a:r>
              <a:rPr lang="en-IN" sz="4000" dirty="0">
                <a:solidFill>
                  <a:srgbClr val="FF0000"/>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CC15667D-866D-4E3D-D042-F1800ABAE5B0}"/>
              </a:ext>
            </a:extLst>
          </p:cNvPr>
          <p:cNvSpPr>
            <a:spLocks noGrp="1"/>
          </p:cNvSpPr>
          <p:nvPr>
            <p:ph idx="1"/>
          </p:nvPr>
        </p:nvSpPr>
        <p:spPr>
          <a:xfrm>
            <a:off x="359596" y="986319"/>
            <a:ext cx="11472808" cy="5190644"/>
          </a:xfrm>
        </p:spPr>
        <p:txBody>
          <a:bodyPr>
            <a:normAutofit/>
          </a:bodyPr>
          <a:lstStyle/>
          <a:p>
            <a:pPr marL="0" indent="0" algn="just">
              <a:lnSpc>
                <a:spcPct val="150000"/>
              </a:lnSpc>
              <a:buNone/>
            </a:pPr>
            <a:r>
              <a:rPr lang="en-US" dirty="0"/>
              <a:t>Individual with hearing, speech, and mobility impairments </a:t>
            </a:r>
            <a:r>
              <a:rPr lang="en-US" dirty="0">
                <a:latin typeface="Times New Roman" panose="02020603050405020304" pitchFamily="18" charset="0"/>
                <a:cs typeface="Times New Roman" panose="02020603050405020304" pitchFamily="18" charset="0"/>
              </a:rPr>
              <a:t>rely on sign language, but existing assistive gloves translate only isolated gestures without contextual understanding. Current systems mainly use flex sensors with basic threshold logic, lacking intelligent processing capabilities. They do not support contextual sentence formation, advanced gesture analysis, or real-time edge-based intelligence. This project aims to develop a smart sign language translation glove using embedded edge processing for accurate, context-aware, real-time communication.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4593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318AC-F515-0481-F483-209DA09D90D5}"/>
              </a:ext>
            </a:extLst>
          </p:cNvPr>
          <p:cNvSpPr>
            <a:spLocks noGrp="1"/>
          </p:cNvSpPr>
          <p:nvPr>
            <p:ph type="title"/>
          </p:nvPr>
        </p:nvSpPr>
        <p:spPr>
          <a:xfrm>
            <a:off x="163286" y="-653143"/>
            <a:ext cx="11190513" cy="2343832"/>
          </a:xfrm>
        </p:spPr>
        <p:txBody>
          <a:bodyPr>
            <a:normAutofit/>
          </a:bodyPr>
          <a:lstStyle/>
          <a:p>
            <a:r>
              <a:rPr lang="en-IN" sz="4000" dirty="0">
                <a:solidFill>
                  <a:srgbClr val="FF0000"/>
                </a:solidFill>
                <a:latin typeface="Times New Roman" panose="02020603050405020304" pitchFamily="18" charset="0"/>
                <a:cs typeface="Times New Roman" panose="02020603050405020304" pitchFamily="18" charset="0"/>
              </a:rPr>
              <a:t>PROPOSED METHODOLOGY</a:t>
            </a:r>
          </a:p>
        </p:txBody>
      </p:sp>
      <p:pic>
        <p:nvPicPr>
          <p:cNvPr id="6" name="Content Placeholder 5">
            <a:extLst>
              <a:ext uri="{FF2B5EF4-FFF2-40B4-BE49-F238E27FC236}">
                <a16:creationId xmlns:a16="http://schemas.microsoft.com/office/drawing/2014/main" id="{E9673D31-669A-1E8C-0D8C-4309ABEB4257}"/>
              </a:ext>
            </a:extLst>
          </p:cNvPr>
          <p:cNvPicPr>
            <a:picLocks noGrp="1" noChangeAspect="1"/>
          </p:cNvPicPr>
          <p:nvPr>
            <p:ph idx="1"/>
          </p:nvPr>
        </p:nvPicPr>
        <p:blipFill>
          <a:blip r:embed="rId2"/>
          <a:stretch>
            <a:fillRect/>
          </a:stretch>
        </p:blipFill>
        <p:spPr>
          <a:xfrm>
            <a:off x="3799132" y="1253331"/>
            <a:ext cx="4593735" cy="4351338"/>
          </a:xfrm>
          <a:prstGeom prst="rect">
            <a:avLst/>
          </a:prstGeom>
        </p:spPr>
      </p:pic>
    </p:spTree>
    <p:extLst>
      <p:ext uri="{BB962C8B-B14F-4D97-AF65-F5344CB8AC3E}">
        <p14:creationId xmlns:p14="http://schemas.microsoft.com/office/powerpoint/2010/main" val="599897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D0F78-4426-BDB8-2A4C-027F34495148}"/>
              </a:ext>
            </a:extLst>
          </p:cNvPr>
          <p:cNvSpPr>
            <a:spLocks noGrp="1"/>
          </p:cNvSpPr>
          <p:nvPr>
            <p:ph type="title"/>
          </p:nvPr>
        </p:nvSpPr>
        <p:spPr>
          <a:xfrm>
            <a:off x="365760" y="-152400"/>
            <a:ext cx="10988040" cy="1843088"/>
          </a:xfrm>
        </p:spPr>
        <p:txBody>
          <a:bodyPr>
            <a:normAutofit/>
          </a:bodyPr>
          <a:lstStyle/>
          <a:p>
            <a:r>
              <a:rPr lang="en-IN" sz="3800" dirty="0">
                <a:solidFill>
                  <a:srgbClr val="FF0000"/>
                </a:solidFill>
                <a:latin typeface="Times New Roman" panose="02020603050405020304" pitchFamily="18" charset="0"/>
                <a:cs typeface="Times New Roman" panose="02020603050405020304" pitchFamily="18" charset="0"/>
              </a:rPr>
              <a:t>PROBLEM DEFINITION &amp; DESIGN ASPECTS</a:t>
            </a:r>
          </a:p>
        </p:txBody>
      </p:sp>
      <p:sp>
        <p:nvSpPr>
          <p:cNvPr id="3" name="Content Placeholder 2">
            <a:extLst>
              <a:ext uri="{FF2B5EF4-FFF2-40B4-BE49-F238E27FC236}">
                <a16:creationId xmlns:a16="http://schemas.microsoft.com/office/drawing/2014/main" id="{CB0FA772-E3B4-9D6F-5BDD-614A036D28CD}"/>
              </a:ext>
            </a:extLst>
          </p:cNvPr>
          <p:cNvSpPr>
            <a:spLocks noGrp="1"/>
          </p:cNvSpPr>
          <p:nvPr>
            <p:ph idx="1"/>
          </p:nvPr>
        </p:nvSpPr>
        <p:spPr>
          <a:xfrm>
            <a:off x="436880" y="1188720"/>
            <a:ext cx="11389360" cy="5059680"/>
          </a:xfrm>
        </p:spPr>
        <p:txBody>
          <a:bodyPr/>
          <a:lstStyle/>
          <a:p>
            <a:pPr marL="0" indent="0">
              <a:buNone/>
            </a:pPr>
            <a:r>
              <a:rPr lang="en-US" b="1" dirty="0"/>
              <a:t>Problem Definition:</a:t>
            </a:r>
          </a:p>
          <a:p>
            <a:pPr marL="0" indent="0">
              <a:buNone/>
            </a:pPr>
            <a:r>
              <a:rPr lang="en-US" dirty="0"/>
              <a:t>Design a wearable embedded system capable of translating sign gestures into speech with contextual awareness.</a:t>
            </a:r>
          </a:p>
          <a:p>
            <a:pPr marL="0" indent="0">
              <a:buNone/>
            </a:pPr>
            <a:r>
              <a:rPr lang="en-US" b="1" dirty="0"/>
              <a:t>Design Aspects:</a:t>
            </a:r>
          </a:p>
          <a:p>
            <a:r>
              <a:rPr lang="en-US" dirty="0"/>
              <a:t>Sensor Fusion (Flex + IMU)</a:t>
            </a:r>
          </a:p>
          <a:p>
            <a:r>
              <a:rPr lang="en-US" dirty="0"/>
              <a:t>Voltage Divider for resistance measurement</a:t>
            </a:r>
          </a:p>
          <a:p>
            <a:r>
              <a:rPr lang="en-US" dirty="0"/>
              <a:t>ESP32 ADC </a:t>
            </a:r>
          </a:p>
          <a:p>
            <a:r>
              <a:rPr lang="en-US" dirty="0"/>
              <a:t>Wireless transmission architecture</a:t>
            </a:r>
          </a:p>
          <a:p>
            <a:r>
              <a:rPr lang="en-US" dirty="0"/>
              <a:t>Edge ML processing</a:t>
            </a:r>
          </a:p>
          <a:p>
            <a:r>
              <a:rPr lang="en-US" dirty="0"/>
              <a:t>Real-time output generation</a:t>
            </a:r>
          </a:p>
          <a:p>
            <a:endParaRPr lang="en-IN" dirty="0"/>
          </a:p>
        </p:txBody>
      </p:sp>
    </p:spTree>
    <p:extLst>
      <p:ext uri="{BB962C8B-B14F-4D97-AF65-F5344CB8AC3E}">
        <p14:creationId xmlns:p14="http://schemas.microsoft.com/office/powerpoint/2010/main" val="688505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4D44-38C7-E557-0F41-A1B4E242AF7D}"/>
              </a:ext>
            </a:extLst>
          </p:cNvPr>
          <p:cNvSpPr>
            <a:spLocks noGrp="1"/>
          </p:cNvSpPr>
          <p:nvPr>
            <p:ph type="title"/>
          </p:nvPr>
        </p:nvSpPr>
        <p:spPr>
          <a:xfrm>
            <a:off x="334737" y="300942"/>
            <a:ext cx="11019064" cy="833377"/>
          </a:xfrm>
        </p:spPr>
        <p:txBody>
          <a:bodyPr>
            <a:normAutofit/>
          </a:bodyPr>
          <a:lstStyle/>
          <a:p>
            <a:r>
              <a:rPr lang="en-US" sz="4000" dirty="0">
                <a:solidFill>
                  <a:srgbClr val="FF0000"/>
                </a:solidFill>
                <a:latin typeface="Times New Roman" panose="02020603050405020304" pitchFamily="18" charset="0"/>
                <a:cs typeface="Times New Roman" panose="02020603050405020304" pitchFamily="18" charset="0"/>
              </a:rPr>
              <a:t>WORKING </a:t>
            </a:r>
            <a:r>
              <a:rPr lang="en-IN" sz="4000" dirty="0">
                <a:solidFill>
                  <a:srgbClr val="FF0000"/>
                </a:solidFill>
                <a:latin typeface="Times New Roman" panose="02020603050405020304" pitchFamily="18" charset="0"/>
                <a:cs typeface="Times New Roman" panose="02020603050405020304" pitchFamily="18" charset="0"/>
              </a:rPr>
              <a:t>PRINCIPLE</a:t>
            </a:r>
          </a:p>
        </p:txBody>
      </p:sp>
      <p:sp>
        <p:nvSpPr>
          <p:cNvPr id="3" name="Content Placeholder 2">
            <a:extLst>
              <a:ext uri="{FF2B5EF4-FFF2-40B4-BE49-F238E27FC236}">
                <a16:creationId xmlns:a16="http://schemas.microsoft.com/office/drawing/2014/main" id="{255943B8-AF6E-1C66-0D5C-E4D7C797EE1D}"/>
              </a:ext>
            </a:extLst>
          </p:cNvPr>
          <p:cNvSpPr>
            <a:spLocks noGrp="1"/>
          </p:cNvSpPr>
          <p:nvPr>
            <p:ph idx="1"/>
          </p:nvPr>
        </p:nvSpPr>
        <p:spPr>
          <a:xfrm>
            <a:off x="334736" y="1053193"/>
            <a:ext cx="11019064" cy="5289733"/>
          </a:xfrm>
        </p:spPr>
        <p:txBody>
          <a:bodyPr>
            <a:normAutofit fontScale="85000" lnSpcReduction="10000"/>
          </a:bodyPr>
          <a:lstStyle/>
          <a:p>
            <a:pPr marL="0" indent="0">
              <a:buNone/>
            </a:pPr>
            <a:r>
              <a:rPr lang="en-IN" b="1" dirty="0">
                <a:latin typeface="Times New Roman" panose="02020603050405020304" pitchFamily="18" charset="0"/>
                <a:cs typeface="Times New Roman" panose="02020603050405020304" pitchFamily="18" charset="0"/>
              </a:rPr>
              <a:t>1️⃣ Gesture Acquisition</a:t>
            </a:r>
          </a:p>
          <a:p>
            <a:r>
              <a:rPr lang="en-IN" sz="2400" dirty="0">
                <a:latin typeface="Times New Roman" panose="02020603050405020304" pitchFamily="18" charset="0"/>
                <a:cs typeface="Times New Roman" panose="02020603050405020304" pitchFamily="18" charset="0"/>
              </a:rPr>
              <a:t>Flex sensors detect finger bending by measuring resistance variation.</a:t>
            </a:r>
          </a:p>
          <a:p>
            <a:r>
              <a:rPr lang="en-IN" sz="2400" dirty="0">
                <a:latin typeface="Times New Roman" panose="02020603050405020304" pitchFamily="18" charset="0"/>
                <a:cs typeface="Times New Roman" panose="02020603050405020304" pitchFamily="18" charset="0"/>
              </a:rPr>
              <a:t>The IMU (MPU6050) captures dynamic motion data including acceleration and angular velocity.</a:t>
            </a:r>
          </a:p>
          <a:p>
            <a:r>
              <a:rPr lang="en-IN" sz="2400" dirty="0">
                <a:latin typeface="Times New Roman" panose="02020603050405020304" pitchFamily="18" charset="0"/>
                <a:cs typeface="Times New Roman" panose="02020603050405020304" pitchFamily="18" charset="0"/>
              </a:rPr>
              <a:t>These sensors together capture both:</a:t>
            </a:r>
          </a:p>
          <a:p>
            <a:r>
              <a:rPr lang="en-IN" sz="2400" dirty="0">
                <a:latin typeface="Times New Roman" panose="02020603050405020304" pitchFamily="18" charset="0"/>
                <a:cs typeface="Times New Roman" panose="02020603050405020304" pitchFamily="18" charset="0"/>
              </a:rPr>
              <a:t>Static finger positions</a:t>
            </a:r>
          </a:p>
          <a:p>
            <a:r>
              <a:rPr lang="en-IN" sz="2400" dirty="0">
                <a:latin typeface="Times New Roman" panose="02020603050405020304" pitchFamily="18" charset="0"/>
                <a:cs typeface="Times New Roman" panose="02020603050405020304" pitchFamily="18" charset="0"/>
              </a:rPr>
              <a:t>Dynamic hand movement patterns</a:t>
            </a:r>
          </a:p>
          <a:p>
            <a:endParaRPr lang="en-IN" sz="1400" dirty="0">
              <a:latin typeface="Times New Roman" panose="02020603050405020304" pitchFamily="18" charset="0"/>
              <a:cs typeface="Times New Roman" panose="02020603050405020304" pitchFamily="18" charset="0"/>
            </a:endParaRPr>
          </a:p>
          <a:p>
            <a:pPr marL="0" indent="0">
              <a:buNone/>
            </a:pPr>
            <a:r>
              <a:rPr lang="en-IN" b="1" dirty="0"/>
              <a:t>2️⃣ Embedded Data Processing (ESP32)</a:t>
            </a:r>
          </a:p>
          <a:p>
            <a:r>
              <a:rPr lang="en-IN" sz="2400" dirty="0">
                <a:latin typeface="Times New Roman" panose="02020603050405020304" pitchFamily="18" charset="0"/>
                <a:cs typeface="Times New Roman" panose="02020603050405020304" pitchFamily="18" charset="0"/>
              </a:rPr>
              <a:t>The ESP32 performs:</a:t>
            </a:r>
          </a:p>
          <a:p>
            <a:r>
              <a:rPr lang="en-IN" sz="2400" dirty="0">
                <a:latin typeface="Times New Roman" panose="02020603050405020304" pitchFamily="18" charset="0"/>
                <a:cs typeface="Times New Roman" panose="02020603050405020304" pitchFamily="18" charset="0"/>
              </a:rPr>
              <a:t>Signal conditioning</a:t>
            </a:r>
          </a:p>
          <a:p>
            <a:r>
              <a:rPr lang="en-IN" sz="2400" dirty="0">
                <a:latin typeface="Times New Roman" panose="02020603050405020304" pitchFamily="18" charset="0"/>
                <a:cs typeface="Times New Roman" panose="02020603050405020304" pitchFamily="18" charset="0"/>
              </a:rPr>
              <a:t>Analog-to-digital conversion</a:t>
            </a:r>
          </a:p>
          <a:p>
            <a:r>
              <a:rPr lang="en-IN" sz="2400" dirty="0">
                <a:latin typeface="Times New Roman" panose="02020603050405020304" pitchFamily="18" charset="0"/>
                <a:cs typeface="Times New Roman" panose="02020603050405020304" pitchFamily="18" charset="0"/>
              </a:rPr>
              <a:t>Noise filtering</a:t>
            </a:r>
          </a:p>
          <a:p>
            <a:r>
              <a:rPr lang="en-IN" sz="2400" dirty="0">
                <a:latin typeface="Times New Roman" panose="02020603050405020304" pitchFamily="18" charset="0"/>
                <a:cs typeface="Times New Roman" panose="02020603050405020304" pitchFamily="18" charset="0"/>
              </a:rPr>
              <a:t>Packet formation</a:t>
            </a:r>
          </a:p>
          <a:p>
            <a:r>
              <a:rPr lang="en-IN" sz="2400" dirty="0">
                <a:latin typeface="Times New Roman" panose="02020603050405020304" pitchFamily="18" charset="0"/>
                <a:cs typeface="Times New Roman" panose="02020603050405020304" pitchFamily="18" charset="0"/>
              </a:rPr>
              <a:t>The processed sensor data is then transmitted wirelessly via </a:t>
            </a:r>
            <a:r>
              <a:rPr lang="en-IN" sz="2400" dirty="0" err="1">
                <a:latin typeface="Times New Roman" panose="02020603050405020304" pitchFamily="18" charset="0"/>
                <a:cs typeface="Times New Roman" panose="02020603050405020304" pitchFamily="18" charset="0"/>
              </a:rPr>
              <a:t>WiFi</a:t>
            </a:r>
            <a:r>
              <a:rPr lang="en-IN" sz="2400" dirty="0">
                <a:latin typeface="Times New Roman" panose="02020603050405020304" pitchFamily="18" charset="0"/>
                <a:cs typeface="Times New Roman" panose="02020603050405020304" pitchFamily="18" charset="0"/>
              </a:rPr>
              <a:t>/Bluetooth to the Raspberry Pi</a:t>
            </a:r>
            <a:r>
              <a:rPr lang="en-IN" sz="2600" dirty="0">
                <a:latin typeface="Times New Roman" panose="02020603050405020304" pitchFamily="18" charset="0"/>
                <a:cs typeface="Times New Roman" panose="02020603050405020304" pitchFamily="18" charset="0"/>
              </a:rPr>
              <a:t>.</a:t>
            </a:r>
          </a:p>
          <a:p>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7314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01FDAC-65D6-5A1F-7C4A-176DF604B7B4}"/>
              </a:ext>
            </a:extLst>
          </p:cNvPr>
          <p:cNvSpPr>
            <a:spLocks noGrp="1"/>
          </p:cNvSpPr>
          <p:nvPr>
            <p:ph idx="1"/>
          </p:nvPr>
        </p:nvSpPr>
        <p:spPr>
          <a:xfrm>
            <a:off x="89807" y="261257"/>
            <a:ext cx="11263993" cy="5915706"/>
          </a:xfrm>
        </p:spPr>
        <p:txBody>
          <a:bodyPr>
            <a:normAutofit/>
          </a:bodyPr>
          <a:lstStyle/>
          <a:p>
            <a:pPr marL="0" indent="0">
              <a:buNone/>
            </a:pPr>
            <a:r>
              <a:rPr lang="en-IN" sz="1600" b="1" dirty="0">
                <a:latin typeface="Times New Roman" panose="02020603050405020304" pitchFamily="18" charset="0"/>
                <a:cs typeface="Times New Roman" panose="02020603050405020304" pitchFamily="18" charset="0"/>
              </a:rPr>
              <a:t> </a:t>
            </a:r>
            <a:r>
              <a:rPr lang="en-IN" sz="3000" b="1" dirty="0">
                <a:latin typeface="Times New Roman" panose="02020603050405020304" pitchFamily="18" charset="0"/>
                <a:cs typeface="Times New Roman" panose="02020603050405020304" pitchFamily="18" charset="0"/>
              </a:rPr>
              <a:t>3️⃣ </a:t>
            </a:r>
            <a:r>
              <a:rPr lang="en-IN" sz="1900" b="1" dirty="0">
                <a:latin typeface="Times New Roman" panose="02020603050405020304" pitchFamily="18" charset="0"/>
                <a:cs typeface="Times New Roman" panose="02020603050405020304" pitchFamily="18" charset="0"/>
              </a:rPr>
              <a:t> </a:t>
            </a:r>
            <a:r>
              <a:rPr lang="en-IN" sz="3000" b="1" dirty="0">
                <a:latin typeface="Times New Roman" panose="02020603050405020304" pitchFamily="18" charset="0"/>
                <a:cs typeface="Times New Roman" panose="02020603050405020304" pitchFamily="18" charset="0"/>
              </a:rPr>
              <a:t>MACHINE LEARNING CLASSIFICATION</a:t>
            </a:r>
            <a:endParaRPr lang="en-IN" sz="3000" dirty="0">
              <a:latin typeface="Times New Roman" panose="02020603050405020304" pitchFamily="18" charset="0"/>
              <a:cs typeface="Times New Roman" panose="02020603050405020304" pitchFamily="18" charset="0"/>
            </a:endParaRPr>
          </a:p>
          <a:p>
            <a:r>
              <a:rPr lang="en-IN" sz="1900" dirty="0">
                <a:latin typeface="Times New Roman" panose="02020603050405020304" pitchFamily="18" charset="0"/>
                <a:cs typeface="Times New Roman" panose="02020603050405020304" pitchFamily="18" charset="0"/>
              </a:rPr>
              <a:t>Gesture recognition model identifies the performed sign</a:t>
            </a:r>
          </a:p>
          <a:p>
            <a:r>
              <a:rPr lang="en-IN" sz="1900" dirty="0">
                <a:latin typeface="Times New Roman" panose="02020603050405020304" pitchFamily="18" charset="0"/>
                <a:cs typeface="Times New Roman" panose="02020603050405020304" pitchFamily="18" charset="0"/>
              </a:rPr>
              <a:t>ML classifier processes temporal features for improved accuracy</a:t>
            </a:r>
          </a:p>
          <a:p>
            <a:r>
              <a:rPr lang="en-IN" sz="1900" b="1" dirty="0">
                <a:latin typeface="Times New Roman" panose="02020603050405020304" pitchFamily="18" charset="0"/>
                <a:cs typeface="Times New Roman" panose="02020603050405020304" pitchFamily="18" charset="0"/>
              </a:rPr>
              <a:t>C. Context &amp; Decision Engine</a:t>
            </a:r>
            <a:endParaRPr lang="en-IN" sz="1900" dirty="0">
              <a:latin typeface="Times New Roman" panose="02020603050405020304" pitchFamily="18" charset="0"/>
              <a:cs typeface="Times New Roman" panose="02020603050405020304" pitchFamily="18" charset="0"/>
            </a:endParaRPr>
          </a:p>
          <a:p>
            <a:r>
              <a:rPr lang="en-IN" sz="1900" dirty="0">
                <a:latin typeface="Times New Roman" panose="02020603050405020304" pitchFamily="18" charset="0"/>
                <a:cs typeface="Times New Roman" panose="02020603050405020304" pitchFamily="18" charset="0"/>
              </a:rPr>
              <a:t>Context-based sentence refinement</a:t>
            </a:r>
          </a:p>
          <a:p>
            <a:r>
              <a:rPr lang="en-IN" sz="1900" dirty="0">
                <a:latin typeface="Times New Roman" panose="02020603050405020304" pitchFamily="18" charset="0"/>
                <a:cs typeface="Times New Roman" panose="02020603050405020304" pitchFamily="18" charset="0"/>
              </a:rPr>
              <a:t>Emergency gesture pattern detection</a:t>
            </a:r>
          </a:p>
          <a:p>
            <a:r>
              <a:rPr lang="en-IN" sz="1900" dirty="0">
                <a:latin typeface="Times New Roman" panose="02020603050405020304" pitchFamily="18" charset="0"/>
                <a:cs typeface="Times New Roman" panose="02020603050405020304" pitchFamily="18" charset="0"/>
              </a:rPr>
              <a:t>Final decision fusion</a:t>
            </a:r>
          </a:p>
          <a:p>
            <a:pPr marL="0" indent="0">
              <a:buNone/>
            </a:pPr>
            <a:r>
              <a:rPr lang="en-US" sz="1900" b="1" dirty="0">
                <a:latin typeface="Times New Roman" panose="02020603050405020304" pitchFamily="18" charset="0"/>
                <a:cs typeface="Times New Roman" panose="02020603050405020304" pitchFamily="18" charset="0"/>
              </a:rPr>
              <a:t>  </a:t>
            </a:r>
          </a:p>
          <a:p>
            <a:pPr marL="0" indent="0">
              <a:buNone/>
            </a:pPr>
            <a:r>
              <a:rPr lang="en-US" sz="3000" b="1" dirty="0">
                <a:latin typeface="Times New Roman" panose="02020603050405020304" pitchFamily="18" charset="0"/>
                <a:cs typeface="Times New Roman" panose="02020603050405020304" pitchFamily="18" charset="0"/>
              </a:rPr>
              <a:t>4️⃣ Output Generation</a:t>
            </a:r>
          </a:p>
          <a:p>
            <a:r>
              <a:rPr lang="en-US" sz="2100" dirty="0">
                <a:latin typeface="Times New Roman" panose="02020603050405020304" pitchFamily="18" charset="0"/>
                <a:cs typeface="Times New Roman" panose="02020603050405020304" pitchFamily="18" charset="0"/>
              </a:rPr>
              <a:t>Based on classification results:</a:t>
            </a:r>
          </a:p>
          <a:p>
            <a:r>
              <a:rPr lang="en-US" sz="2100" dirty="0">
                <a:latin typeface="Times New Roman" panose="02020603050405020304" pitchFamily="18" charset="0"/>
                <a:cs typeface="Times New Roman" panose="02020603050405020304" pitchFamily="18" charset="0"/>
              </a:rPr>
              <a:t>Speaker provides voice output</a:t>
            </a:r>
          </a:p>
          <a:p>
            <a:r>
              <a:rPr lang="en-US" sz="2100" dirty="0">
                <a:latin typeface="Times New Roman" panose="02020603050405020304" pitchFamily="18" charset="0"/>
                <a:cs typeface="Times New Roman" panose="02020603050405020304" pitchFamily="18" charset="0"/>
              </a:rPr>
              <a:t>Display shows text output</a:t>
            </a:r>
          </a:p>
          <a:p>
            <a:r>
              <a:rPr lang="en-US" sz="2100" dirty="0">
                <a:latin typeface="Times New Roman" panose="02020603050405020304" pitchFamily="18" charset="0"/>
                <a:cs typeface="Times New Roman" panose="02020603050405020304" pitchFamily="18" charset="0"/>
              </a:rPr>
              <a:t>Alert module triggers emergency notification </a:t>
            </a:r>
          </a:p>
          <a:p>
            <a:endParaRPr lang="en-IN" sz="1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180245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628535-96C0-D215-FF57-452C5570E571}"/>
              </a:ext>
            </a:extLst>
          </p:cNvPr>
          <p:cNvSpPr txBox="1"/>
          <p:nvPr/>
        </p:nvSpPr>
        <p:spPr>
          <a:xfrm>
            <a:off x="439838" y="182880"/>
            <a:ext cx="8704162" cy="707886"/>
          </a:xfrm>
          <a:prstGeom prst="rect">
            <a:avLst/>
          </a:prstGeom>
          <a:noFill/>
        </p:spPr>
        <p:txBody>
          <a:bodyPr wrap="square">
            <a:spAutoFit/>
          </a:bodyPr>
          <a:lstStyle/>
          <a:p>
            <a:r>
              <a:rPr lang="en-IN" sz="4000" dirty="0">
                <a:solidFill>
                  <a:srgbClr val="FF0000"/>
                </a:solidFill>
                <a:latin typeface="Times New Roman" panose="02020603050405020304" pitchFamily="18" charset="0"/>
                <a:cs typeface="Times New Roman" panose="02020603050405020304" pitchFamily="18" charset="0"/>
              </a:rPr>
              <a:t>IMPLEMENTATION PROGRESS</a:t>
            </a:r>
          </a:p>
        </p:txBody>
      </p:sp>
      <p:sp>
        <p:nvSpPr>
          <p:cNvPr id="7" name="TextBox 6">
            <a:extLst>
              <a:ext uri="{FF2B5EF4-FFF2-40B4-BE49-F238E27FC236}">
                <a16:creationId xmlns:a16="http://schemas.microsoft.com/office/drawing/2014/main" id="{E9A30701-FC7E-B24B-243C-B4B3F41BC969}"/>
              </a:ext>
            </a:extLst>
          </p:cNvPr>
          <p:cNvSpPr txBox="1"/>
          <p:nvPr/>
        </p:nvSpPr>
        <p:spPr>
          <a:xfrm>
            <a:off x="640080" y="1320800"/>
            <a:ext cx="10391714" cy="4432752"/>
          </a:xfrm>
          <a:prstGeom prst="rect">
            <a:avLst/>
          </a:prstGeom>
          <a:noFill/>
        </p:spPr>
        <p:txBody>
          <a:bodyPr wrap="square">
            <a:spAutoFit/>
          </a:bodyPr>
          <a:lstStyle/>
          <a:p>
            <a:r>
              <a:rPr lang="en-IN" sz="2200" b="1" dirty="0">
                <a:latin typeface="Times New Roman" panose="02020603050405020304" pitchFamily="18" charset="0"/>
                <a:cs typeface="Times New Roman" panose="02020603050405020304" pitchFamily="18" charset="0"/>
              </a:rPr>
              <a:t>Dataset Creation</a:t>
            </a:r>
            <a:endParaRPr lang="en-IN" sz="2200" dirty="0">
              <a:latin typeface="Times New Roman" panose="02020603050405020304" pitchFamily="18" charset="0"/>
              <a:cs typeface="Times New Roman" panose="02020603050405020304" pitchFamily="18" charset="0"/>
            </a:endParaRPr>
          </a:p>
          <a:p>
            <a:pPr>
              <a:lnSpc>
                <a:spcPct val="150000"/>
              </a:lnSpc>
            </a:pPr>
            <a:r>
              <a:rPr lang="en-IN" sz="2200" dirty="0">
                <a:latin typeface="Times New Roman" panose="02020603050405020304" pitchFamily="18" charset="0"/>
                <a:cs typeface="Times New Roman" panose="02020603050405020304" pitchFamily="18" charset="0"/>
              </a:rPr>
              <a:t>Sensor data collected using flex sensors and IMU (MPU6050) </a:t>
            </a:r>
          </a:p>
          <a:p>
            <a:pPr>
              <a:lnSpc>
                <a:spcPct val="150000"/>
              </a:lnSpc>
            </a:pPr>
            <a:r>
              <a:rPr lang="en-IN" sz="2200" dirty="0">
                <a:latin typeface="Times New Roman" panose="02020603050405020304" pitchFamily="18" charset="0"/>
                <a:cs typeface="Times New Roman" panose="02020603050405020304" pitchFamily="18" charset="0"/>
              </a:rPr>
              <a:t>Features include: </a:t>
            </a:r>
          </a:p>
          <a:p>
            <a:pPr marL="742950" lvl="1" indent="-285750">
              <a:lnSpc>
                <a:spcPct val="150000"/>
              </a:lnSpc>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Flex sensor values (F1, F2, F3) </a:t>
            </a:r>
          </a:p>
          <a:p>
            <a:pPr marL="742950" lvl="1" indent="-285750">
              <a:lnSpc>
                <a:spcPct val="150000"/>
              </a:lnSpc>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Accelerometer (AX, AY, AZ) </a:t>
            </a:r>
          </a:p>
          <a:p>
            <a:pPr marL="742950" lvl="1" indent="-285750">
              <a:lnSpc>
                <a:spcPct val="150000"/>
              </a:lnSpc>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Gyroscope (GX, GY, GZ) </a:t>
            </a:r>
          </a:p>
          <a:p>
            <a:pPr>
              <a:lnSpc>
                <a:spcPct val="150000"/>
              </a:lnSpc>
            </a:pPr>
            <a:r>
              <a:rPr lang="en-IN" sz="2200" dirty="0">
                <a:latin typeface="Times New Roman" panose="02020603050405020304" pitchFamily="18" charset="0"/>
                <a:cs typeface="Times New Roman" panose="02020603050405020304" pitchFamily="18" charset="0"/>
              </a:rPr>
              <a:t>Each gesture recorded multiple times </a:t>
            </a:r>
          </a:p>
          <a:p>
            <a:pPr>
              <a:lnSpc>
                <a:spcPct val="150000"/>
              </a:lnSpc>
            </a:pPr>
            <a:r>
              <a:rPr lang="en-IN" sz="2200" dirty="0">
                <a:latin typeface="Times New Roman" panose="02020603050405020304" pitchFamily="18" charset="0"/>
                <a:cs typeface="Times New Roman" panose="02020603050405020304" pitchFamily="18" charset="0"/>
              </a:rPr>
              <a:t>Dataset is </a:t>
            </a:r>
            <a:r>
              <a:rPr lang="en-IN" sz="2200" b="1" dirty="0">
                <a:latin typeface="Times New Roman" panose="02020603050405020304" pitchFamily="18" charset="0"/>
                <a:cs typeface="Times New Roman" panose="02020603050405020304" pitchFamily="18" charset="0"/>
              </a:rPr>
              <a:t>balanced</a:t>
            </a:r>
            <a:r>
              <a:rPr lang="en-IN" sz="2200" dirty="0">
                <a:latin typeface="Times New Roman" panose="02020603050405020304" pitchFamily="18" charset="0"/>
                <a:cs typeface="Times New Roman" panose="02020603050405020304" pitchFamily="18" charset="0"/>
              </a:rPr>
              <a:t> for all classes </a:t>
            </a:r>
          </a:p>
          <a:p>
            <a:pPr>
              <a:lnSpc>
                <a:spcPct val="150000"/>
              </a:lnSpc>
            </a:pPr>
            <a:r>
              <a:rPr lang="en-IN" sz="2200" dirty="0">
                <a:latin typeface="Times New Roman" panose="02020603050405020304" pitchFamily="18" charset="0"/>
                <a:cs typeface="Times New Roman" panose="02020603050405020304" pitchFamily="18" charset="0"/>
              </a:rPr>
              <a:t>Stored in </a:t>
            </a:r>
            <a:r>
              <a:rPr lang="en-IN" sz="2200" b="1" dirty="0">
                <a:latin typeface="Times New Roman" panose="02020603050405020304" pitchFamily="18" charset="0"/>
                <a:cs typeface="Times New Roman" panose="02020603050405020304" pitchFamily="18" charset="0"/>
              </a:rPr>
              <a:t>CSV format</a:t>
            </a:r>
            <a:r>
              <a:rPr lang="en-IN" sz="2200" dirty="0">
                <a:latin typeface="Times New Roman" panose="02020603050405020304" pitchFamily="18" charset="0"/>
                <a:cs typeface="Times New Roman" panose="02020603050405020304" pitchFamily="18" charset="0"/>
              </a:rPr>
              <a:t> for ML training</a:t>
            </a:r>
          </a:p>
        </p:txBody>
      </p:sp>
    </p:spTree>
    <p:extLst>
      <p:ext uri="{BB962C8B-B14F-4D97-AF65-F5344CB8AC3E}">
        <p14:creationId xmlns:p14="http://schemas.microsoft.com/office/powerpoint/2010/main" val="1250765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50322-CAA1-0AF0-A1CC-45DC9985BB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7A1F53D-DB09-F219-29AD-9E2699AB7CF9}"/>
              </a:ext>
            </a:extLst>
          </p:cNvPr>
          <p:cNvSpPr txBox="1"/>
          <p:nvPr/>
        </p:nvSpPr>
        <p:spPr>
          <a:xfrm>
            <a:off x="439838" y="182880"/>
            <a:ext cx="8704162" cy="707886"/>
          </a:xfrm>
          <a:prstGeom prst="rect">
            <a:avLst/>
          </a:prstGeom>
          <a:noFill/>
        </p:spPr>
        <p:txBody>
          <a:bodyPr wrap="square">
            <a:spAutoFit/>
          </a:bodyPr>
          <a:lstStyle/>
          <a:p>
            <a:r>
              <a:rPr lang="en-IN" sz="4000" dirty="0">
                <a:solidFill>
                  <a:srgbClr val="FF0000"/>
                </a:solidFill>
                <a:latin typeface="Times New Roman" panose="02020603050405020304" pitchFamily="18" charset="0"/>
                <a:cs typeface="Times New Roman" panose="02020603050405020304" pitchFamily="18" charset="0"/>
              </a:rPr>
              <a:t>IMPLEMENTATION PROGRESS</a:t>
            </a:r>
          </a:p>
        </p:txBody>
      </p:sp>
      <p:sp>
        <p:nvSpPr>
          <p:cNvPr id="7" name="TextBox 6">
            <a:extLst>
              <a:ext uri="{FF2B5EF4-FFF2-40B4-BE49-F238E27FC236}">
                <a16:creationId xmlns:a16="http://schemas.microsoft.com/office/drawing/2014/main" id="{9C69E63A-DEF8-8A68-3134-073A75DF3AD1}"/>
              </a:ext>
            </a:extLst>
          </p:cNvPr>
          <p:cNvSpPr txBox="1"/>
          <p:nvPr/>
        </p:nvSpPr>
        <p:spPr>
          <a:xfrm>
            <a:off x="294640" y="890766"/>
            <a:ext cx="10737154" cy="5617692"/>
          </a:xfrm>
          <a:prstGeom prst="rect">
            <a:avLst/>
          </a:prstGeom>
          <a:noFill/>
        </p:spPr>
        <p:txBody>
          <a:bodyPr wrap="square">
            <a:spAutoFit/>
          </a:bodyPr>
          <a:lstStyle/>
          <a:p>
            <a:pPr>
              <a:lnSpc>
                <a:spcPct val="150000"/>
              </a:lnSpc>
            </a:pPr>
            <a:r>
              <a:rPr lang="en-IN" sz="2200" b="1" dirty="0">
                <a:latin typeface="Times New Roman" panose="02020603050405020304" pitchFamily="18" charset="0"/>
                <a:cs typeface="Times New Roman" panose="02020603050405020304" pitchFamily="18" charset="0"/>
              </a:rPr>
              <a:t>Machine Learning Model &amp; Prediction Results</a:t>
            </a:r>
            <a:endParaRPr lang="en-IN" sz="2200" dirty="0">
              <a:latin typeface="Times New Roman" panose="02020603050405020304" pitchFamily="18" charset="0"/>
              <a:cs typeface="Times New Roman" panose="02020603050405020304" pitchFamily="18" charset="0"/>
            </a:endParaRPr>
          </a:p>
          <a:p>
            <a:pPr>
              <a:lnSpc>
                <a:spcPct val="150000"/>
              </a:lnSpc>
            </a:pPr>
            <a:r>
              <a:rPr lang="en-IN" sz="2200" dirty="0">
                <a:latin typeface="Times New Roman" panose="02020603050405020304" pitchFamily="18" charset="0"/>
                <a:cs typeface="Times New Roman" panose="02020603050405020304" pitchFamily="18" charset="0"/>
              </a:rPr>
              <a:t>Algorithm used: </a:t>
            </a:r>
            <a:r>
              <a:rPr lang="en-IN" sz="2200" b="1" dirty="0">
                <a:latin typeface="Times New Roman" panose="02020603050405020304" pitchFamily="18" charset="0"/>
                <a:cs typeface="Times New Roman" panose="02020603050405020304" pitchFamily="18" charset="0"/>
              </a:rPr>
              <a:t>Random Forest Classifier</a:t>
            </a:r>
            <a:r>
              <a:rPr lang="en-IN" sz="2200" dirty="0">
                <a:latin typeface="Times New Roman" panose="02020603050405020304" pitchFamily="18" charset="0"/>
                <a:cs typeface="Times New Roman" panose="02020603050405020304" pitchFamily="18" charset="0"/>
              </a:rPr>
              <a:t> </a:t>
            </a:r>
          </a:p>
          <a:p>
            <a:pPr>
              <a:lnSpc>
                <a:spcPct val="150000"/>
              </a:lnSpc>
            </a:pPr>
            <a:r>
              <a:rPr lang="en-IN" sz="2200" dirty="0">
                <a:latin typeface="Times New Roman" panose="02020603050405020304" pitchFamily="18" charset="0"/>
                <a:cs typeface="Times New Roman" panose="02020603050405020304" pitchFamily="18" charset="0"/>
              </a:rPr>
              <a:t>Supervised learning approach </a:t>
            </a:r>
          </a:p>
          <a:p>
            <a:pPr>
              <a:lnSpc>
                <a:spcPct val="150000"/>
              </a:lnSpc>
            </a:pPr>
            <a:r>
              <a:rPr lang="en-IN" sz="2200" dirty="0">
                <a:latin typeface="Times New Roman" panose="02020603050405020304" pitchFamily="18" charset="0"/>
                <a:cs typeface="Times New Roman" panose="02020603050405020304" pitchFamily="18" charset="0"/>
              </a:rPr>
              <a:t>Input: Sensor values (Flex + IMU data) </a:t>
            </a:r>
          </a:p>
          <a:p>
            <a:pPr>
              <a:lnSpc>
                <a:spcPct val="150000"/>
              </a:lnSpc>
            </a:pPr>
            <a:r>
              <a:rPr lang="en-IN" sz="2200" dirty="0">
                <a:latin typeface="Times New Roman" panose="02020603050405020304" pitchFamily="18" charset="0"/>
                <a:cs typeface="Times New Roman" panose="02020603050405020304" pitchFamily="18" charset="0"/>
              </a:rPr>
              <a:t>Output: Gesture command label </a:t>
            </a:r>
          </a:p>
          <a:p>
            <a:pPr>
              <a:lnSpc>
                <a:spcPct val="150000"/>
              </a:lnSpc>
            </a:pPr>
            <a:r>
              <a:rPr lang="en-IN" sz="2200" dirty="0">
                <a:latin typeface="Times New Roman" panose="02020603050405020304" pitchFamily="18" charset="0"/>
                <a:cs typeface="Times New Roman" panose="02020603050405020304" pitchFamily="18" charset="0"/>
              </a:rPr>
              <a:t>Dataset split into </a:t>
            </a:r>
            <a:r>
              <a:rPr lang="en-IN" sz="2200" b="1" dirty="0">
                <a:latin typeface="Times New Roman" panose="02020603050405020304" pitchFamily="18" charset="0"/>
                <a:cs typeface="Times New Roman" panose="02020603050405020304" pitchFamily="18" charset="0"/>
              </a:rPr>
              <a:t>training and testing sets</a:t>
            </a:r>
            <a:r>
              <a:rPr lang="en-IN" sz="2200" dirty="0">
                <a:latin typeface="Times New Roman" panose="02020603050405020304" pitchFamily="18" charset="0"/>
                <a:cs typeface="Times New Roman" panose="02020603050405020304" pitchFamily="18" charset="0"/>
              </a:rPr>
              <a:t> </a:t>
            </a:r>
          </a:p>
          <a:p>
            <a:pPr>
              <a:lnSpc>
                <a:spcPct val="150000"/>
              </a:lnSpc>
            </a:pPr>
            <a:r>
              <a:rPr lang="en-IN" sz="2200" dirty="0">
                <a:latin typeface="Times New Roman" panose="02020603050405020304" pitchFamily="18" charset="0"/>
                <a:cs typeface="Times New Roman" panose="02020603050405020304" pitchFamily="18" charset="0"/>
              </a:rPr>
              <a:t>Model trained on </a:t>
            </a:r>
            <a:r>
              <a:rPr lang="en-IN" sz="2200" dirty="0" err="1">
                <a:latin typeface="Times New Roman" panose="02020603050405020304" pitchFamily="18" charset="0"/>
                <a:cs typeface="Times New Roman" panose="02020603050405020304" pitchFamily="18" charset="0"/>
              </a:rPr>
              <a:t>labeled</a:t>
            </a:r>
            <a:r>
              <a:rPr lang="en-IN" sz="2200" dirty="0">
                <a:latin typeface="Times New Roman" panose="02020603050405020304" pitchFamily="18" charset="0"/>
                <a:cs typeface="Times New Roman" panose="02020603050405020304" pitchFamily="18" charset="0"/>
              </a:rPr>
              <a:t> gesture dataset </a:t>
            </a:r>
          </a:p>
          <a:p>
            <a:pPr>
              <a:lnSpc>
                <a:spcPct val="150000"/>
              </a:lnSpc>
            </a:pPr>
            <a:r>
              <a:rPr lang="en-IN" sz="2200" dirty="0">
                <a:latin typeface="Times New Roman" panose="02020603050405020304" pitchFamily="18" charset="0"/>
                <a:cs typeface="Times New Roman" panose="02020603050405020304" pitchFamily="18" charset="0"/>
              </a:rPr>
              <a:t>Provides accurate and reliable classification </a:t>
            </a:r>
          </a:p>
          <a:p>
            <a:pPr>
              <a:lnSpc>
                <a:spcPct val="150000"/>
              </a:lnSpc>
            </a:pPr>
            <a:r>
              <a:rPr lang="en-IN" sz="2200" b="1" dirty="0">
                <a:latin typeface="Times New Roman" panose="02020603050405020304" pitchFamily="18" charset="0"/>
                <a:cs typeface="Times New Roman" panose="02020603050405020304" pitchFamily="18" charset="0"/>
              </a:rPr>
              <a:t>Example Prediction:</a:t>
            </a:r>
          </a:p>
          <a:p>
            <a:pPr>
              <a:lnSpc>
                <a:spcPct val="150000"/>
              </a:lnSpc>
            </a:pPr>
            <a:r>
              <a:rPr lang="en-IN" sz="2200" dirty="0">
                <a:latin typeface="Times New Roman" panose="02020603050405020304" pitchFamily="18" charset="0"/>
                <a:cs typeface="Times New Roman" panose="02020603050405020304" pitchFamily="18" charset="0"/>
              </a:rPr>
              <a:t>Input: [760, 820, 780, 600, 3200, 16000, 10, 20, -5]</a:t>
            </a:r>
            <a:br>
              <a:rPr lang="en-IN" sz="2200" dirty="0">
                <a:latin typeface="Times New Roman" panose="02020603050405020304" pitchFamily="18" charset="0"/>
                <a:cs typeface="Times New Roman" panose="02020603050405020304" pitchFamily="18" charset="0"/>
              </a:rPr>
            </a:br>
            <a:r>
              <a:rPr lang="en-IN" sz="2200" dirty="0">
                <a:latin typeface="Times New Roman" panose="02020603050405020304" pitchFamily="18" charset="0"/>
                <a:cs typeface="Times New Roman" panose="02020603050405020304" pitchFamily="18" charset="0"/>
              </a:rPr>
              <a:t>Output: MEDICINE</a:t>
            </a:r>
          </a:p>
        </p:txBody>
      </p:sp>
    </p:spTree>
    <p:extLst>
      <p:ext uri="{BB962C8B-B14F-4D97-AF65-F5344CB8AC3E}">
        <p14:creationId xmlns:p14="http://schemas.microsoft.com/office/powerpoint/2010/main" val="2089586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47273-1E79-903C-28D5-B3BB67C6698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B15244-CE0D-F6C1-DEDC-A2DE0E460ED5}"/>
              </a:ext>
            </a:extLst>
          </p:cNvPr>
          <p:cNvSpPr txBox="1"/>
          <p:nvPr/>
        </p:nvSpPr>
        <p:spPr>
          <a:xfrm>
            <a:off x="439838" y="182880"/>
            <a:ext cx="8704162" cy="707886"/>
          </a:xfrm>
          <a:prstGeom prst="rect">
            <a:avLst/>
          </a:prstGeom>
          <a:noFill/>
        </p:spPr>
        <p:txBody>
          <a:bodyPr wrap="square">
            <a:spAutoFit/>
          </a:bodyPr>
          <a:lstStyle/>
          <a:p>
            <a:r>
              <a:rPr lang="en-IN" sz="4000" dirty="0">
                <a:solidFill>
                  <a:srgbClr val="FF0000"/>
                </a:solidFill>
                <a:latin typeface="Times New Roman" panose="02020603050405020304" pitchFamily="18" charset="0"/>
                <a:cs typeface="Times New Roman" panose="02020603050405020304" pitchFamily="18" charset="0"/>
              </a:rPr>
              <a:t>IMPLEMENTATION PROGRESS</a:t>
            </a:r>
          </a:p>
        </p:txBody>
      </p:sp>
      <p:sp>
        <p:nvSpPr>
          <p:cNvPr id="7" name="TextBox 6">
            <a:extLst>
              <a:ext uri="{FF2B5EF4-FFF2-40B4-BE49-F238E27FC236}">
                <a16:creationId xmlns:a16="http://schemas.microsoft.com/office/drawing/2014/main" id="{DDD40DAB-5AF9-EC1B-3509-4431DADDD6CA}"/>
              </a:ext>
            </a:extLst>
          </p:cNvPr>
          <p:cNvSpPr txBox="1"/>
          <p:nvPr/>
        </p:nvSpPr>
        <p:spPr>
          <a:xfrm>
            <a:off x="640080" y="1320800"/>
            <a:ext cx="10391714" cy="3349956"/>
          </a:xfrm>
          <a:prstGeom prst="rect">
            <a:avLst/>
          </a:prstGeom>
          <a:noFill/>
        </p:spPr>
        <p:txBody>
          <a:bodyPr wrap="square">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Blynk IoT Application</a:t>
            </a:r>
            <a:endParaRPr lang="en-IN" sz="2400" dirty="0">
              <a:latin typeface="Times New Roman" panose="02020603050405020304" pitchFamily="18" charset="0"/>
              <a:cs typeface="Times New Roman" panose="02020603050405020304" pitchFamily="18" charset="0"/>
            </a:endParaRPr>
          </a:p>
          <a:p>
            <a:pPr algn="just">
              <a:lnSpc>
                <a:spcPct val="150000"/>
              </a:lnSpc>
            </a:pPr>
            <a:r>
              <a:rPr lang="en-IN" sz="2400" dirty="0">
                <a:latin typeface="Times New Roman" panose="02020603050405020304" pitchFamily="18" charset="0"/>
                <a:cs typeface="Times New Roman" panose="02020603050405020304" pitchFamily="18" charset="0"/>
              </a:rPr>
              <a:t>Real-time patient message display </a:t>
            </a:r>
          </a:p>
          <a:p>
            <a:pPr algn="just">
              <a:lnSpc>
                <a:spcPct val="150000"/>
              </a:lnSpc>
            </a:pPr>
            <a:r>
              <a:rPr lang="en-IN" sz="2400" dirty="0">
                <a:latin typeface="Times New Roman" panose="02020603050405020304" pitchFamily="18" charset="0"/>
                <a:cs typeface="Times New Roman" panose="02020603050405020304" pitchFamily="18" charset="0"/>
              </a:rPr>
              <a:t>Communication via </a:t>
            </a:r>
            <a:r>
              <a:rPr lang="en-IN" sz="2400" b="1" dirty="0" err="1">
                <a:latin typeface="Times New Roman" panose="02020603050405020304" pitchFamily="18" charset="0"/>
                <a:cs typeface="Times New Roman" panose="02020603050405020304" pitchFamily="18" charset="0"/>
              </a:rPr>
              <a:t>WiFi</a:t>
            </a:r>
            <a:r>
              <a:rPr lang="en-IN" sz="2400" b="1" dirty="0">
                <a:latin typeface="Times New Roman" panose="02020603050405020304" pitchFamily="18" charset="0"/>
                <a:cs typeface="Times New Roman" panose="02020603050405020304" pitchFamily="18" charset="0"/>
              </a:rPr>
              <a:t> using ESP32</a:t>
            </a:r>
            <a:r>
              <a:rPr lang="en-IN" sz="2400" dirty="0">
                <a:latin typeface="Times New Roman" panose="02020603050405020304" pitchFamily="18" charset="0"/>
                <a:cs typeface="Times New Roman" panose="02020603050405020304" pitchFamily="18" charset="0"/>
              </a:rPr>
              <a:t> </a:t>
            </a:r>
          </a:p>
          <a:p>
            <a:pPr algn="just">
              <a:lnSpc>
                <a:spcPct val="150000"/>
              </a:lnSpc>
            </a:pPr>
            <a:r>
              <a:rPr lang="en-IN" sz="2400" dirty="0">
                <a:latin typeface="Times New Roman" panose="02020603050405020304" pitchFamily="18" charset="0"/>
                <a:cs typeface="Times New Roman" panose="02020603050405020304" pitchFamily="18" charset="0"/>
              </a:rPr>
              <a:t>Emergency alerts sent as </a:t>
            </a:r>
            <a:r>
              <a:rPr lang="en-IN" sz="2400" b="1" dirty="0">
                <a:latin typeface="Times New Roman" panose="02020603050405020304" pitchFamily="18" charset="0"/>
                <a:cs typeface="Times New Roman" panose="02020603050405020304" pitchFamily="18" charset="0"/>
              </a:rPr>
              <a:t>push notifications</a:t>
            </a:r>
            <a:r>
              <a:rPr lang="en-IN" sz="2400" dirty="0">
                <a:latin typeface="Times New Roman" panose="02020603050405020304" pitchFamily="18" charset="0"/>
                <a:cs typeface="Times New Roman" panose="02020603050405020304" pitchFamily="18" charset="0"/>
              </a:rPr>
              <a:t> </a:t>
            </a:r>
          </a:p>
          <a:p>
            <a:pPr algn="just">
              <a:lnSpc>
                <a:spcPct val="150000"/>
              </a:lnSpc>
            </a:pPr>
            <a:r>
              <a:rPr lang="en-IN" sz="2400" dirty="0">
                <a:latin typeface="Times New Roman" panose="02020603050405020304" pitchFamily="18" charset="0"/>
                <a:cs typeface="Times New Roman" panose="02020603050405020304" pitchFamily="18" charset="0"/>
              </a:rPr>
              <a:t>Caretaker can monitor patient remotely </a:t>
            </a:r>
          </a:p>
          <a:p>
            <a:pPr algn="just">
              <a:lnSpc>
                <a:spcPct val="150000"/>
              </a:lnSpc>
            </a:pPr>
            <a:r>
              <a:rPr lang="en-IN" sz="2400" dirty="0">
                <a:latin typeface="Times New Roman" panose="02020603050405020304" pitchFamily="18" charset="0"/>
                <a:cs typeface="Times New Roman" panose="02020603050405020304" pitchFamily="18" charset="0"/>
              </a:rPr>
              <a:t>Simple and user-friendly interface</a:t>
            </a:r>
          </a:p>
        </p:txBody>
      </p:sp>
    </p:spTree>
    <p:extLst>
      <p:ext uri="{BB962C8B-B14F-4D97-AF65-F5344CB8AC3E}">
        <p14:creationId xmlns:p14="http://schemas.microsoft.com/office/powerpoint/2010/main" val="4235575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01A9D-7319-C237-BB08-6AFE27098504}"/>
              </a:ext>
            </a:extLst>
          </p:cNvPr>
          <p:cNvSpPr>
            <a:spLocks noGrp="1"/>
          </p:cNvSpPr>
          <p:nvPr>
            <p:ph type="title"/>
          </p:nvPr>
        </p:nvSpPr>
        <p:spPr>
          <a:xfrm>
            <a:off x="410109" y="211015"/>
            <a:ext cx="10943691" cy="600643"/>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Outcome</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00CD3B-5D71-6495-26DB-75BA20807114}"/>
              </a:ext>
            </a:extLst>
          </p:cNvPr>
          <p:cNvSpPr>
            <a:spLocks noGrp="1"/>
          </p:cNvSpPr>
          <p:nvPr>
            <p:ph idx="1"/>
          </p:nvPr>
        </p:nvSpPr>
        <p:spPr>
          <a:xfrm>
            <a:off x="410109" y="626724"/>
            <a:ext cx="11261333" cy="5550239"/>
          </a:xfrm>
        </p:spPr>
        <p:txBody>
          <a:bodyPr>
            <a:normAutofit/>
          </a:bodyPr>
          <a:lstStyle/>
          <a:p>
            <a:pPr marL="0" indent="0">
              <a:buNone/>
            </a:pPr>
            <a:r>
              <a:rPr lang="en-US" b="1" dirty="0"/>
              <a:t>  </a:t>
            </a:r>
          </a:p>
        </p:txBody>
      </p:sp>
      <p:pic>
        <p:nvPicPr>
          <p:cNvPr id="5" name="Picture 4">
            <a:extLst>
              <a:ext uri="{FF2B5EF4-FFF2-40B4-BE49-F238E27FC236}">
                <a16:creationId xmlns:a16="http://schemas.microsoft.com/office/drawing/2014/main" id="{1B51B787-F894-7E00-A48F-27AF054FB91D}"/>
              </a:ext>
            </a:extLst>
          </p:cNvPr>
          <p:cNvPicPr>
            <a:picLocks noChangeAspect="1"/>
          </p:cNvPicPr>
          <p:nvPr/>
        </p:nvPicPr>
        <p:blipFill>
          <a:blip r:embed="rId3"/>
          <a:stretch>
            <a:fillRect/>
          </a:stretch>
        </p:blipFill>
        <p:spPr>
          <a:xfrm>
            <a:off x="154798" y="888579"/>
            <a:ext cx="3511576" cy="5181600"/>
          </a:xfrm>
          <a:prstGeom prst="rect">
            <a:avLst/>
          </a:prstGeom>
        </p:spPr>
      </p:pic>
      <p:pic>
        <p:nvPicPr>
          <p:cNvPr id="9" name="Picture 8">
            <a:extLst>
              <a:ext uri="{FF2B5EF4-FFF2-40B4-BE49-F238E27FC236}">
                <a16:creationId xmlns:a16="http://schemas.microsoft.com/office/drawing/2014/main" id="{A6B4A637-A312-F97A-6D94-80A48EFC9415}"/>
              </a:ext>
            </a:extLst>
          </p:cNvPr>
          <p:cNvPicPr>
            <a:picLocks noChangeAspect="1"/>
          </p:cNvPicPr>
          <p:nvPr/>
        </p:nvPicPr>
        <p:blipFill>
          <a:blip r:embed="rId4"/>
          <a:stretch>
            <a:fillRect/>
          </a:stretch>
        </p:blipFill>
        <p:spPr>
          <a:xfrm>
            <a:off x="4214336" y="888578"/>
            <a:ext cx="3763328" cy="5131222"/>
          </a:xfrm>
          <a:prstGeom prst="rect">
            <a:avLst/>
          </a:prstGeom>
        </p:spPr>
      </p:pic>
      <p:pic>
        <p:nvPicPr>
          <p:cNvPr id="11" name="Picture 10">
            <a:extLst>
              <a:ext uri="{FF2B5EF4-FFF2-40B4-BE49-F238E27FC236}">
                <a16:creationId xmlns:a16="http://schemas.microsoft.com/office/drawing/2014/main" id="{732ABFE8-9340-F9E2-ECF7-44484601553D}"/>
              </a:ext>
            </a:extLst>
          </p:cNvPr>
          <p:cNvPicPr>
            <a:picLocks noChangeAspect="1"/>
          </p:cNvPicPr>
          <p:nvPr/>
        </p:nvPicPr>
        <p:blipFill>
          <a:blip r:embed="rId5"/>
          <a:stretch>
            <a:fillRect/>
          </a:stretch>
        </p:blipFill>
        <p:spPr>
          <a:xfrm>
            <a:off x="8164611" y="838200"/>
            <a:ext cx="3872591" cy="5181600"/>
          </a:xfrm>
          <a:prstGeom prst="rect">
            <a:avLst/>
          </a:prstGeom>
        </p:spPr>
      </p:pic>
    </p:spTree>
    <p:extLst>
      <p:ext uri="{BB962C8B-B14F-4D97-AF65-F5344CB8AC3E}">
        <p14:creationId xmlns:p14="http://schemas.microsoft.com/office/powerpoint/2010/main" val="501824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FE41CA-210B-C6BE-306E-A9D4D67FD5C4}"/>
              </a:ext>
            </a:extLst>
          </p:cNvPr>
          <p:cNvSpPr txBox="1"/>
          <p:nvPr/>
        </p:nvSpPr>
        <p:spPr>
          <a:xfrm>
            <a:off x="304800" y="152400"/>
            <a:ext cx="8839200" cy="707886"/>
          </a:xfrm>
          <a:prstGeom prst="rect">
            <a:avLst/>
          </a:prstGeom>
          <a:noFill/>
        </p:spPr>
        <p:txBody>
          <a:bodyPr wrap="square">
            <a:spAutoFit/>
          </a:bodyPr>
          <a:lstStyle/>
          <a:p>
            <a:r>
              <a:rPr lang="en-IN" sz="4000" dirty="0">
                <a:solidFill>
                  <a:srgbClr val="FF0000"/>
                </a:solidFill>
                <a:latin typeface="Times New Roman" panose="02020603050405020304" pitchFamily="18" charset="0"/>
                <a:cs typeface="Times New Roman" panose="02020603050405020304" pitchFamily="18" charset="0"/>
              </a:rPr>
              <a:t>CHALLENGES FACED</a:t>
            </a:r>
          </a:p>
        </p:txBody>
      </p:sp>
      <p:sp>
        <p:nvSpPr>
          <p:cNvPr id="2" name="Rectangle 1">
            <a:extLst>
              <a:ext uri="{FF2B5EF4-FFF2-40B4-BE49-F238E27FC236}">
                <a16:creationId xmlns:a16="http://schemas.microsoft.com/office/drawing/2014/main" id="{61E0C527-EEC1-68C5-F0B6-27AFD62170DE}"/>
              </a:ext>
            </a:extLst>
          </p:cNvPr>
          <p:cNvSpPr>
            <a:spLocks noChangeArrowheads="1"/>
          </p:cNvSpPr>
          <p:nvPr/>
        </p:nvSpPr>
        <p:spPr bwMode="auto">
          <a:xfrm>
            <a:off x="422786" y="611049"/>
            <a:ext cx="9260475" cy="4371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Difficulty in </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sensor calibration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Variations in flex sensor readings for same gesture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Noise and instability in IMU (MPU6050) data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Hardware connection and wiring issues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data synchronization between sensors and ESP32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of ML model with embedded system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Blynk app configuration and communication delays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processing capability for real-time ML on ESP32 </a:t>
            </a:r>
          </a:p>
        </p:txBody>
      </p:sp>
    </p:spTree>
    <p:extLst>
      <p:ext uri="{BB962C8B-B14F-4D97-AF65-F5344CB8AC3E}">
        <p14:creationId xmlns:p14="http://schemas.microsoft.com/office/powerpoint/2010/main" val="3232503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71C6D-37EC-D43C-9EAD-21FF5A5C3C14}"/>
              </a:ext>
            </a:extLst>
          </p:cNvPr>
          <p:cNvSpPr>
            <a:spLocks noGrp="1"/>
          </p:cNvSpPr>
          <p:nvPr>
            <p:ph type="title"/>
          </p:nvPr>
        </p:nvSpPr>
        <p:spPr>
          <a:xfrm>
            <a:off x="356171" y="-174660"/>
            <a:ext cx="10997628" cy="1150706"/>
          </a:xfrm>
        </p:spPr>
        <p:txBody>
          <a:bodyPr>
            <a:normAutofit/>
          </a:bodyPr>
          <a:lstStyle/>
          <a:p>
            <a:r>
              <a:rPr lang="en-IN" sz="4000" dirty="0">
                <a:solidFill>
                  <a:srgbClr val="FF0000"/>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646BFC3A-B087-B9C6-3629-85A4D7250774}"/>
              </a:ext>
            </a:extLst>
          </p:cNvPr>
          <p:cNvSpPr>
            <a:spLocks noGrp="1"/>
          </p:cNvSpPr>
          <p:nvPr>
            <p:ph idx="1"/>
          </p:nvPr>
        </p:nvSpPr>
        <p:spPr>
          <a:xfrm>
            <a:off x="318499" y="801384"/>
            <a:ext cx="11517330" cy="5743254"/>
          </a:xfrm>
        </p:spPr>
        <p:txBody>
          <a:bodyPr>
            <a:normAutofit fontScale="77500" lnSpcReduction="20000"/>
          </a:bodyPr>
          <a:lstStyle/>
          <a:p>
            <a:r>
              <a:rPr lang="en-IN" sz="2600" dirty="0"/>
              <a:t>[1] J. Zhang, L. Wang, and H. Li, “IMU-Based Sign Language Recognition Using Machine Learning Techniques,” </a:t>
            </a:r>
            <a:r>
              <a:rPr lang="en-IN" sz="2600" i="1" dirty="0"/>
              <a:t>IEEE Access</a:t>
            </a:r>
            <a:r>
              <a:rPr lang="en-IN" sz="2600" dirty="0"/>
              <a:t>, vol. 10, pp. 45678–45689, 2022.</a:t>
            </a:r>
          </a:p>
          <a:p>
            <a:r>
              <a:rPr lang="en-IN" sz="2600" dirty="0"/>
              <a:t>[2] R. Kumar and S. Mehta, “Smart Glove for Sign Language Translation Using Flex Sensors,” </a:t>
            </a:r>
            <a:r>
              <a:rPr lang="en-IN" sz="2600" i="1" dirty="0"/>
              <a:t>Journal of Engineering Research</a:t>
            </a:r>
            <a:r>
              <a:rPr lang="en-IN" sz="2600" dirty="0"/>
              <a:t>, vol. 15, no. 3, pp. 210–218, 2021.</a:t>
            </a:r>
          </a:p>
          <a:p>
            <a:r>
              <a:rPr lang="en-IN" sz="2600" dirty="0"/>
              <a:t>[3] Y. Lee, M. Park, and K. Kim, “Wearable Gesture Recognition System for Assistive Communication,” </a:t>
            </a:r>
            <a:r>
              <a:rPr lang="en-IN" sz="2600" i="1" dirty="0"/>
              <a:t>Sensors</a:t>
            </a:r>
            <a:r>
              <a:rPr lang="en-IN" sz="2600" dirty="0"/>
              <a:t>, vol. 23, no. 4, pp. 1456–1472, 2023.</a:t>
            </a:r>
          </a:p>
          <a:p>
            <a:r>
              <a:rPr lang="en-IN" sz="2600" dirty="0"/>
              <a:t>[4] M. Ahmed, T. Hassan, and A. Rahman, “Real-Time Sign Language Translation Using Embedded Systems,” in </a:t>
            </a:r>
            <a:r>
              <a:rPr lang="en-IN" sz="2600" i="1" dirty="0"/>
              <a:t>Proc. IEEE Int. Conf. Internet of Things (IoT)</a:t>
            </a:r>
            <a:r>
              <a:rPr lang="en-IN" sz="2600" dirty="0"/>
              <a:t>, 2020, pp. 233–238.</a:t>
            </a:r>
          </a:p>
          <a:p>
            <a:r>
              <a:rPr lang="en-IN" sz="2600" dirty="0"/>
              <a:t>[5] S. Park and J. Kim, “Emotion Recognition Using Motion Sensor Data,” </a:t>
            </a:r>
            <a:r>
              <a:rPr lang="en-IN" sz="2600" i="1" dirty="0"/>
              <a:t>IEEE Sensors Journal</a:t>
            </a:r>
            <a:r>
              <a:rPr lang="en-IN" sz="2600" dirty="0"/>
              <a:t>, vol. 20, no. 14, pp. 8123–8132, 2020.</a:t>
            </a:r>
          </a:p>
          <a:p>
            <a:r>
              <a:rPr lang="en-IN" sz="2600" dirty="0"/>
              <a:t>[6] D. Silva, P. Rocha, and F. Gomes, “Edge AI for Wearable Health Monitoring Systems,” </a:t>
            </a:r>
            <a:r>
              <a:rPr lang="en-IN" sz="2600" i="1" dirty="0"/>
              <a:t>ACM Transactions on Embedded Computing Systems</a:t>
            </a:r>
            <a:r>
              <a:rPr lang="en-IN" sz="2600" dirty="0"/>
              <a:t>, vol. 23, no. 2, pp. 1–18, 2024.</a:t>
            </a:r>
          </a:p>
          <a:p>
            <a:r>
              <a:rPr lang="en-IN" sz="2600" dirty="0"/>
              <a:t>[7] V. Rao and R. Iyer, “Context-Aware Natural Language Processing for Assistive Devices,” </a:t>
            </a:r>
            <a:r>
              <a:rPr lang="en-IN" sz="2600" i="1" dirty="0"/>
              <a:t>IEEE Transactions on Affective Computing</a:t>
            </a:r>
            <a:r>
              <a:rPr lang="en-IN" sz="2600" dirty="0"/>
              <a:t>, vol. 12, no. 3, pp. 567–578, 2021.</a:t>
            </a:r>
          </a:p>
          <a:p>
            <a:r>
              <a:rPr lang="en-IN" sz="2600" dirty="0"/>
              <a:t>[8] X. Chen, Y. Liu, and Z. Zhao, “Gesture-Based Emergency Detection in Wearable Systems,” </a:t>
            </a:r>
            <a:r>
              <a:rPr lang="en-IN" sz="2600" i="1" dirty="0"/>
              <a:t>IEEE Internet of Things Journal</a:t>
            </a:r>
            <a:r>
              <a:rPr lang="en-IN" sz="2600" dirty="0"/>
              <a:t>, vol. 10, no. 5, pp. 3890–3899, 2023.</a:t>
            </a:r>
          </a:p>
          <a:p>
            <a:r>
              <a:rPr lang="en-IN" sz="2600" dirty="0"/>
              <a:t>[9] A. Patel and M. Shah, “Machine Learning-Based Sign Language Recognition Using Sensor Fusion,” </a:t>
            </a:r>
            <a:r>
              <a:rPr lang="en-IN" sz="2600" i="1" dirty="0"/>
              <a:t>Procedia Computer Science</a:t>
            </a:r>
            <a:r>
              <a:rPr lang="en-IN" sz="2600" dirty="0"/>
              <a:t>, vol. 200, pp. 145–152, 2022.</a:t>
            </a:r>
          </a:p>
          <a:p>
            <a:r>
              <a:rPr lang="en-IN" sz="2600" dirty="0"/>
              <a:t>[10] L. Gomez and R. Torres, “Wearable Assistive Technology for Deaf and Mute Communication,” </a:t>
            </a:r>
            <a:r>
              <a:rPr lang="en-IN" sz="2600" i="1" dirty="0"/>
              <a:t>Journal of Healthcare Engineering</a:t>
            </a:r>
            <a:r>
              <a:rPr lang="en-IN" sz="2600" dirty="0"/>
              <a:t>, vol. 2022, Article ID 9876543, 2022.</a:t>
            </a:r>
          </a:p>
          <a:p>
            <a:pPr marL="0" indent="0">
              <a:buNone/>
            </a:pPr>
            <a:endParaRPr lang="en-IN" dirty="0"/>
          </a:p>
        </p:txBody>
      </p:sp>
    </p:spTree>
    <p:extLst>
      <p:ext uri="{BB962C8B-B14F-4D97-AF65-F5344CB8AC3E}">
        <p14:creationId xmlns:p14="http://schemas.microsoft.com/office/powerpoint/2010/main" val="1000957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418</TotalTime>
  <Words>1610</Words>
  <Application>Microsoft Office PowerPoint</Application>
  <PresentationFormat>Widescreen</PresentationFormat>
  <Paragraphs>169</Paragraphs>
  <Slides>17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Arial</vt:lpstr>
      <vt:lpstr>Calibri</vt:lpstr>
      <vt:lpstr>Calibri Light</vt:lpstr>
      <vt:lpstr>Times New Roman</vt:lpstr>
      <vt:lpstr>Wingdings</vt:lpstr>
      <vt:lpstr>Office Theme</vt:lpstr>
      <vt:lpstr>           21ECP302L- PROJECT Review -2 Context Aware Sign Language Translation Glove </vt:lpstr>
      <vt:lpstr>INTRODUCTION</vt:lpstr>
      <vt:lpstr>MOTIVATION</vt:lpstr>
      <vt:lpstr>LITERATURE REVIEW</vt:lpstr>
      <vt:lpstr>PowerPoint Presentation</vt:lpstr>
      <vt:lpstr>PowerPoint Presentation</vt:lpstr>
      <vt:lpstr>PROBLEM STATEMENT</vt:lpstr>
      <vt:lpstr>PROPOSED METHODOLOGY</vt:lpstr>
      <vt:lpstr>PROBLEM DEFINITION &amp; DESIGN ASPECTS</vt:lpstr>
      <vt:lpstr>WORKING PRINCIPLE</vt:lpstr>
      <vt:lpstr>PowerPoint Presentation</vt:lpstr>
      <vt:lpstr>PowerPoint Presentation</vt:lpstr>
      <vt:lpstr>PowerPoint Presentation</vt:lpstr>
      <vt:lpstr>PowerPoint Presentation</vt:lpstr>
      <vt:lpstr>Outcome</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HARISH K</dc:creator>
  <cp:lastModifiedBy>dass J</cp:lastModifiedBy>
  <cp:revision>9</cp:revision>
  <dcterms:modified xsi:type="dcterms:W3CDTF">2026-04-28T10:38:13Z</dcterms:modified>
</cp:coreProperties>
</file>